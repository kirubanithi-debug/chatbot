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2286000"/>
            <a:ext cx="329184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81381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Law Chatbot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81381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C107"/>
                </a:solidFill>
                <a:latin typeface="Calibri"/>
              </a:defRPr>
            </a:pPr>
            <a:r>
              <a:t>AI Based Legal Guidance System | Clean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297680"/>
            <a:ext cx="329184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This project builds an AI-powered legal chatbot for first-level legal support.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Users can ask in simple language and get structured legal guidance instantly.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The response format is fixed: LAW, SECTION, PUNISHMENT, NEXT STEPS, DISCLAIMER.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The core goal is accessibility: legal awareness for common people without legal jargon.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It combines query understanding, legal retrieval, and LLM generation in one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Existing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People usually depend on manual web search or direct lawyer consultation.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Legal information is spread across many sources and hard to verify quickly.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Most users do not know which law or section applies to their issue.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There is no single simple interface for initial legal understanding.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Common language queries and typo-heavy queries are not handled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Disadvantage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Time-consuming and confusing for non-legal users.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No real-time structured legal direction in one response.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Low support for colloquial terms and spelling mistakes.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Manual process does not scale for high number of routine questions.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Lack of a safe fallback message can mislead users in uncertain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Frontend (React) collects user query and displays chat history.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Backend (Django REST) creates sessions, stores messages, and serves APIs.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Celery + Redis execute heavy AI tasks asynchronously.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RAG layer retrieves relevant laws from legal_sections.csv via Chroma vector DB.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Ollama model generates final readable legal response in strict output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Advantage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Fast and clear first-level legal guidance.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Improved relevance through query preprocessing + retrieval.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Consistent response structure helps users understand quickly.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Async architecture supports multiple users without blocking.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Fallback + disclaimer keeps output safe when confidence is 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APRM Architecture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43000"/>
            <a:ext cx="1920240" cy="1280160"/>
          </a:xfrm>
          <a:prstGeom prst="roundRect">
            <a:avLst/>
          </a:prstGeom>
          <a:solidFill>
            <a:srgbClr val="DCDCDC"/>
          </a:solidFill>
          <a:ln w="254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A"/>
                </a:solidFill>
                <a:latin typeface="Calibri"/>
              </a:defRPr>
            </a:pPr>
            <a:r>
              <a:t>A - Analyze Query</a:t>
            </a:r>
          </a:p>
          <a:p>
            <a:pPr algn="ctr">
              <a:defRPr sz="1100" b="0">
                <a:solidFill>
                  <a:srgbClr val="1E1E1E"/>
                </a:solidFill>
                <a:latin typeface="Calibri"/>
              </a:defRPr>
            </a:pPr>
            <a:r>
              <a:t>Intent + Typo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888" y="1143000"/>
            <a:ext cx="1920240" cy="1280160"/>
          </a:xfrm>
          <a:prstGeom prst="roundRect">
            <a:avLst/>
          </a:prstGeom>
          <a:solidFill>
            <a:srgbClr val="C8F0D2"/>
          </a:solidFill>
          <a:ln w="25400">
            <a:solidFill>
              <a:srgbClr val="3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A"/>
                </a:solidFill>
                <a:latin typeface="Calibri"/>
              </a:defRPr>
            </a:pPr>
            <a:r>
              <a:t>P - Process Request</a:t>
            </a:r>
          </a:p>
          <a:p>
            <a:pPr algn="ctr">
              <a:defRPr sz="1100" b="0">
                <a:solidFill>
                  <a:srgbClr val="1E1E1E"/>
                </a:solidFill>
                <a:latin typeface="Calibri"/>
              </a:defRPr>
            </a:pPr>
            <a:r>
              <a:t>API + Celery Queue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62856" y="1143000"/>
            <a:ext cx="1920240" cy="128016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DC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A"/>
                </a:solidFill>
                <a:latin typeface="Calibri"/>
              </a:defRPr>
            </a:pPr>
            <a:r>
              <a:t>R - Retrieve Context</a:t>
            </a:r>
          </a:p>
          <a:p>
            <a:pPr algn="ctr">
              <a:defRPr sz="1100" b="0">
                <a:solidFill>
                  <a:srgbClr val="1E1E1E"/>
                </a:solidFill>
                <a:latin typeface="Calibri"/>
              </a:defRPr>
            </a:pPr>
            <a:r>
              <a:t>Chroma Vector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2824" y="1143000"/>
            <a:ext cx="1920240" cy="1280160"/>
          </a:xfrm>
          <a:prstGeom prst="roundRect">
            <a:avLst/>
          </a:prstGeom>
          <a:solidFill>
            <a:srgbClr val="E1D7FA"/>
          </a:solidFill>
          <a:ln w="25400">
            <a:solidFill>
              <a:srgbClr val="82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A"/>
                </a:solidFill>
                <a:latin typeface="Calibri"/>
              </a:defRPr>
            </a:pPr>
            <a:r>
              <a:t>M - Model Response</a:t>
            </a:r>
          </a:p>
          <a:p>
            <a:pPr algn="ctr">
              <a:defRPr sz="1100" b="0">
                <a:solidFill>
                  <a:srgbClr val="1E1E1E"/>
                </a:solidFill>
                <a:latin typeface="Calibri"/>
              </a:defRPr>
            </a:pPr>
            <a:r>
              <a:t>Ollama Structured Reply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23160" y="1783080"/>
            <a:ext cx="109728" cy="0"/>
          </a:xfrm>
          <a:prstGeom prst="line">
            <a:avLst/>
          </a:prstGeom>
          <a:ln w="3175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53128" y="1783080"/>
            <a:ext cx="109728" cy="0"/>
          </a:xfrm>
          <a:prstGeom prst="line">
            <a:avLst/>
          </a:prstGeom>
          <a:ln w="3175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83096" y="1783080"/>
            <a:ext cx="109728" cy="0"/>
          </a:xfrm>
          <a:prstGeom prst="line">
            <a:avLst/>
          </a:prstGeom>
          <a:ln w="3175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2743200"/>
            <a:ext cx="8138159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786383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Calibri"/>
              </a:defRPr>
            </a:pPr>
            <a:r>
              <a:t>User Query → Query Understanding → Legal Retrieval → LLM Generation → Final Legal Guidance</a:t>
            </a:r>
          </a:p>
          <a:p>
            <a:pPr algn="ctr">
              <a:defRPr sz="1300" b="0">
                <a:solidFill>
                  <a:srgbClr val="505050"/>
                </a:solidFill>
                <a:latin typeface="Calibri"/>
              </a:defRPr>
            </a:pPr>
            <a:r>
              <a:t>Supports async processing, structured response format, and fallback safety 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Modules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1) Frontend Interaction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2) API and Session Management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3) Async Task Processing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4) Query Understanding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5) RAG Retrieval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6) LLM Response Generation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7) Database and Persistence Module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8) Safety and Fallback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APRM Module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8138159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78638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 - Analyze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8138159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78638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Accepts raw user text from chat UI.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Fixes common spelling mistakes and phrase variations.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Detects issue intent using legal-domain keyword mapping.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Builds an enriched query for better legal retrieval.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APRM Module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8138159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78638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 - Process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8138159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78638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Validates request through serializer and creates legal query record.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Pushes task to Celery worker through Redis queue.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Prevents frontend delay by running heavy work in background.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Tracks status as pending and completed for polling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APRM Module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8138159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78638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 - Retrieve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8138159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78638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Loads legal knowledge base from structured CSV data.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Converts legal content into embeddings and stores in Chroma DB.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Finds top relevant sections using semantic similarity search.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Returns law, section, punishment, and next-step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APRM Module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8138159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78638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 - Model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8138159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78638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Sends context and user query to Ollama model with strict prompt.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Generates readable legal answer in fixed structured format.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Uses fallback formatter if model service is unavailable.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Always includes safety disclaimer to consult a legal professional.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Module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8138159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78638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 + API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8138159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78638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Frontend provides chat window, quick prompts, and status messages.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API module exposes endpoints for session, submit-query, and messages.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Polling every few seconds gives near real-time updates.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Simple UI keeps interaction easy for non-technical users.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Module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8138159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78638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 + Safety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8138159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78638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SQLite stores sessions, questions, responses, and timestamps.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Chroma persistent storage keeps vector index for legal retrieval.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Fallback module handles weak-context and no-context situations safely.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▸  Ensures system gives useful guidance without overconfident claims.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046720" y="5669280"/>
            <a:ext cx="1097280" cy="822960"/>
          </a:xfrm>
          <a:prstGeom prst="rtTriangle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91440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013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4C3DC"/>
                </a:solidFill>
                <a:latin typeface="Calibri"/>
              </a:defRPr>
            </a:pPr>
            <a:r>
              <a:t>Law Chatbot — AI Legal Guidance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6510528"/>
            <a:ext cx="292608" cy="2926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65196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"/>
            <a:ext cx="77723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8138159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78638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Law Chatbot provides practical and fast first-level legal awareness.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The APRM pipeline makes responses structured, relevant, and readable.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Modular architecture helps future scaling and feature extension.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E1E1E"/>
                </a:solidFill>
                <a:latin typeface="Calibri"/>
              </a:defRPr>
            </a:pPr>
            <a:r>
              <a:t>▸  Future scope: multilingual support, voice input, and richer legal datasets.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5486400" cy="18288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C107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206240"/>
            <a:ext cx="27432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