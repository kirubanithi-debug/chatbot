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23.xml.rels" ContentType="application/vnd.openxmlformats-package.relationships+xml"/>
  <Override PartName="/ppt/notesSlides/_rels/notesSlide3.xml.rels" ContentType="application/vnd.openxmlformats-package.relationships+xml"/>
  <Override PartName="/ppt/notesSlides/_rels/notesSlide22.xml.rels" ContentType="application/vnd.openxmlformats-package.relationships+xml"/>
  <Override PartName="/ppt/notesSlides/_rels/notesSlide21.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2.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23.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IN" sz="2000" spc="-1" strike="noStrike">
                <a:latin typeface="Arial"/>
              </a:rPr>
              <a:t>Click to edit the notes format</a:t>
            </a:r>
            <a:endParaRPr b="0" lang="en-IN" sz="2000" spc="-1" strike="noStrike">
              <a:latin typeface="Arial"/>
            </a:endParaRPr>
          </a:p>
        </p:txBody>
      </p:sp>
      <p:sp>
        <p:nvSpPr>
          <p:cNvPr id="4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IN" sz="1400" spc="-1" strike="noStrike">
                <a:latin typeface="Times New Roman"/>
              </a:rPr>
              <a:t>&lt;header&gt;</a:t>
            </a:r>
            <a:endParaRPr b="0" lang="en-IN" sz="1400" spc="-1" strike="noStrike">
              <a:latin typeface="Times New Roman"/>
            </a:endParaRPr>
          </a:p>
        </p:txBody>
      </p:sp>
      <p:sp>
        <p:nvSpPr>
          <p:cNvPr id="44"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algn="r">
              <a:buNone/>
              <a:defRPr b="0" lang="en-IN" sz="1400" spc="-1" strike="noStrike">
                <a:latin typeface="Times New Roman"/>
              </a:defRPr>
            </a:lvl1pPr>
          </a:lstStyle>
          <a:p>
            <a:pPr algn="r">
              <a:buNone/>
            </a:pPr>
            <a:r>
              <a:rPr b="0" lang="en-IN" sz="1400" spc="-1" strike="noStrike">
                <a:latin typeface="Times New Roman"/>
              </a:rPr>
              <a:t>&lt;date/time&gt;</a:t>
            </a:r>
            <a:endParaRPr b="0" lang="en-IN" sz="1400" spc="-1" strike="noStrike">
              <a:latin typeface="Times New Roman"/>
            </a:endParaRPr>
          </a:p>
        </p:txBody>
      </p:sp>
      <p:sp>
        <p:nvSpPr>
          <p:cNvPr id="45"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a:defRPr b="0" lang="en-IN" sz="1400" spc="-1" strike="noStrike">
                <a:latin typeface="Times New Roman"/>
              </a:defRPr>
            </a:lvl1pPr>
          </a:lstStyle>
          <a:p>
            <a:r>
              <a:rPr b="0" lang="en-IN" sz="1400" spc="-1" strike="noStrike">
                <a:latin typeface="Times New Roman"/>
              </a:rPr>
              <a:t>&lt;footer&gt;</a:t>
            </a:r>
            <a:endParaRPr b="0" lang="en-IN" sz="1400" spc="-1" strike="noStrike">
              <a:latin typeface="Times New Roman"/>
            </a:endParaRPr>
          </a:p>
        </p:txBody>
      </p:sp>
      <p:sp>
        <p:nvSpPr>
          <p:cNvPr id="46"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algn="r">
              <a:buNone/>
              <a:defRPr b="0" lang="en-IN" sz="1400" spc="-1" strike="noStrike">
                <a:latin typeface="Times New Roman"/>
              </a:defRPr>
            </a:lvl1pPr>
          </a:lstStyle>
          <a:p>
            <a:pPr algn="r">
              <a:buNone/>
            </a:pPr>
            <a:fld id="{1B037226-C2FF-4CFA-98E7-9358BA09F642}"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1143000" y="685800"/>
            <a:ext cx="4571640" cy="3428640"/>
          </a:xfrm>
          <a:prstGeom prst="rect">
            <a:avLst/>
          </a:prstGeom>
          <a:ln w="0">
            <a:noFill/>
          </a:ln>
        </p:spPr>
      </p:sp>
      <p:sp>
        <p:nvSpPr>
          <p:cNvPr id="35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Introduce the project title, your name, department, college, and guide name.</a:t>
            </a:r>
            <a:endParaRPr b="0" lang="en-IN" sz="2000" spc="-1" strike="noStrike">
              <a:latin typeface="Arial"/>
            </a:endParaRPr>
          </a:p>
        </p:txBody>
      </p:sp>
      <p:sp>
        <p:nvSpPr>
          <p:cNvPr id="356" name="PlaceHolder 3"/>
          <p:cNvSpPr>
            <a:spLocks noGrp="1"/>
          </p:cNvSpPr>
          <p:nvPr>
            <p:ph type="sldNum" idx="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0F8D1A2-F68D-469D-9AF1-373A00739F17}"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1143000" y="685800"/>
            <a:ext cx="4571640" cy="3428640"/>
          </a:xfrm>
          <a:prstGeom prst="rect">
            <a:avLst/>
          </a:prstGeom>
          <a:ln w="0">
            <a:noFill/>
          </a:ln>
        </p:spPr>
      </p:sp>
      <p:sp>
        <p:nvSpPr>
          <p:cNvPr id="35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Abstract: problem, solution, tech approach, outcome.</a:t>
            </a:r>
            <a:endParaRPr b="0" lang="en-IN" sz="2000" spc="-1" strike="noStrike">
              <a:latin typeface="Arial"/>
            </a:endParaRPr>
          </a:p>
        </p:txBody>
      </p:sp>
      <p:sp>
        <p:nvSpPr>
          <p:cNvPr id="359" name="PlaceHolder 3"/>
          <p:cNvSpPr>
            <a:spLocks noGrp="1"/>
          </p:cNvSpPr>
          <p:nvPr>
            <p:ph type="sldNum" idx="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B7FEC20-37A8-4E40-A576-E8E7D34C3F21}"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1143000" y="685800"/>
            <a:ext cx="4571640" cy="3428640"/>
          </a:xfrm>
          <a:prstGeom prst="rect">
            <a:avLst/>
          </a:prstGeom>
          <a:ln w="0">
            <a:noFill/>
          </a:ln>
        </p:spPr>
      </p:sp>
      <p:sp>
        <p:nvSpPr>
          <p:cNvPr id="36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Explain how legal guidance works today: manual search, lawyer visit, helpline.</a:t>
            </a:r>
            <a:endParaRPr b="0" lang="en-IN" sz="2000" spc="-1" strike="noStrike">
              <a:latin typeface="Arial"/>
            </a:endParaRPr>
          </a:p>
        </p:txBody>
      </p:sp>
      <p:sp>
        <p:nvSpPr>
          <p:cNvPr id="362" name="PlaceHolder 3"/>
          <p:cNvSpPr>
            <a:spLocks noGrp="1"/>
          </p:cNvSpPr>
          <p:nvPr>
            <p:ph type="sldNum" idx="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0C51FBCA-DE5D-4BA7-9905-0A00F04789E1}"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1143000" y="685800"/>
            <a:ext cx="4571640" cy="3428640"/>
          </a:xfrm>
          <a:prstGeom prst="rect">
            <a:avLst/>
          </a:prstGeom>
          <a:ln w="0">
            <a:noFill/>
          </a:ln>
        </p:spPr>
      </p:sp>
      <p:sp>
        <p:nvSpPr>
          <p:cNvPr id="36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Highlight each disadvantage clearly. These justify why the proposed system is needed.</a:t>
            </a:r>
            <a:endParaRPr b="0" lang="en-IN" sz="2000" spc="-1" strike="noStrike">
              <a:latin typeface="Arial"/>
            </a:endParaRPr>
          </a:p>
        </p:txBody>
      </p:sp>
      <p:sp>
        <p:nvSpPr>
          <p:cNvPr id="365" name="PlaceHolder 3"/>
          <p:cNvSpPr>
            <a:spLocks noGrp="1"/>
          </p:cNvSpPr>
          <p:nvPr>
            <p:ph type="sldNum" idx="1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21524EF9-6B6F-4920-B3E0-10903C5ED396}"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1143000" y="685800"/>
            <a:ext cx="4571640" cy="3428640"/>
          </a:xfrm>
          <a:prstGeom prst="rect">
            <a:avLst/>
          </a:prstGeom>
          <a:ln w="0">
            <a:noFill/>
          </a:ln>
        </p:spPr>
      </p:sp>
      <p:sp>
        <p:nvSpPr>
          <p:cNvPr id="36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Walk through the flow: user query -&gt; query understanding -&gt; RAG retrieval -&gt; LLM -&gt; structured response.</a:t>
            </a:r>
            <a:endParaRPr b="0" lang="en-IN" sz="2000" spc="-1" strike="noStrike">
              <a:latin typeface="Arial"/>
            </a:endParaRPr>
          </a:p>
        </p:txBody>
      </p:sp>
      <p:sp>
        <p:nvSpPr>
          <p:cNvPr id="368" name="PlaceHolder 3"/>
          <p:cNvSpPr>
            <a:spLocks noGrp="1"/>
          </p:cNvSpPr>
          <p:nvPr>
            <p:ph type="sldNum" idx="1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5E6CBF32-4790-4E51-B121-59C6FB4481D8}"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1143000" y="685800"/>
            <a:ext cx="4571640" cy="3428640"/>
          </a:xfrm>
          <a:prstGeom prst="rect">
            <a:avLst/>
          </a:prstGeom>
          <a:ln w="0">
            <a:noFill/>
          </a:ln>
        </p:spPr>
      </p:sp>
      <p:sp>
        <p:nvSpPr>
          <p:cNvPr id="37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Keep advantages simple and direct.</a:t>
            </a:r>
            <a:endParaRPr b="0" lang="en-IN" sz="2000" spc="-1" strike="noStrike">
              <a:latin typeface="Arial"/>
            </a:endParaRPr>
          </a:p>
        </p:txBody>
      </p:sp>
      <p:sp>
        <p:nvSpPr>
          <p:cNvPr id="371" name="PlaceHolder 3"/>
          <p:cNvSpPr>
            <a:spLocks noGrp="1"/>
          </p:cNvSpPr>
          <p:nvPr>
            <p:ph type="sldNum" idx="1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13B8EA1-764C-4487-AE85-7BD5081F2FAB}"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1143000" y="685800"/>
            <a:ext cx="4571640" cy="3428640"/>
          </a:xfrm>
          <a:prstGeom prst="rect">
            <a:avLst/>
          </a:prstGeom>
          <a:ln w="0">
            <a:noFill/>
          </a:ln>
        </p:spPr>
      </p:sp>
      <p:sp>
        <p:nvSpPr>
          <p:cNvPr id="37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Walk through: APRM coloured boxes, tech components, then data flow.</a:t>
            </a:r>
            <a:endParaRPr b="0" lang="en-IN" sz="2000" spc="-1" strike="noStrike">
              <a:latin typeface="Arial"/>
            </a:endParaRPr>
          </a:p>
        </p:txBody>
      </p:sp>
      <p:sp>
        <p:nvSpPr>
          <p:cNvPr id="374" name="PlaceHolder 3"/>
          <p:cNvSpPr>
            <a:spLocks noGrp="1"/>
          </p:cNvSpPr>
          <p:nvPr>
            <p:ph type="sldNum" idx="1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AC01AE5-9E24-4FE3-9D4E-D197D126C48B}"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1143000" y="685800"/>
            <a:ext cx="4571640" cy="3428640"/>
          </a:xfrm>
          <a:prstGeom prst="rect">
            <a:avLst/>
          </a:prstGeom>
          <a:ln w="0">
            <a:noFill/>
          </a:ln>
        </p:spPr>
      </p:sp>
      <p:sp>
        <p:nvSpPr>
          <p:cNvPr id="37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List all eight modules briefly.</a:t>
            </a:r>
            <a:endParaRPr b="0" lang="en-IN" sz="2000" spc="-1" strike="noStrike">
              <a:latin typeface="Arial"/>
            </a:endParaRPr>
          </a:p>
        </p:txBody>
      </p:sp>
      <p:sp>
        <p:nvSpPr>
          <p:cNvPr id="377" name="PlaceHolder 3"/>
          <p:cNvSpPr>
            <a:spLocks noGrp="1"/>
          </p:cNvSpPr>
          <p:nvPr>
            <p:ph type="sldNum" idx="1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6F6BE740-BD27-41A6-8596-418B481F45A6}"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1143000" y="685800"/>
            <a:ext cx="4571640" cy="3428640"/>
          </a:xfrm>
          <a:prstGeom prst="rect">
            <a:avLst/>
          </a:prstGeom>
          <a:ln w="0">
            <a:noFill/>
          </a:ln>
        </p:spPr>
      </p:sp>
      <p:sp>
        <p:nvSpPr>
          <p:cNvPr id="37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First stage of APRM. Emphasize typo handling and intent detection.</a:t>
            </a:r>
            <a:endParaRPr b="0" lang="en-IN" sz="2000" spc="-1" strike="noStrike">
              <a:latin typeface="Arial"/>
            </a:endParaRPr>
          </a:p>
        </p:txBody>
      </p:sp>
      <p:sp>
        <p:nvSpPr>
          <p:cNvPr id="380" name="PlaceHolder 3"/>
          <p:cNvSpPr>
            <a:spLocks noGrp="1"/>
          </p:cNvSpPr>
          <p:nvPr>
            <p:ph type="sldNum" idx="1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87DCC2A9-456B-4F79-957D-2EA97B3F747A}"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1143000" y="685800"/>
            <a:ext cx="4571640" cy="3428640"/>
          </a:xfrm>
          <a:prstGeom prst="rect">
            <a:avLst/>
          </a:prstGeom>
          <a:ln w="0">
            <a:noFill/>
          </a:ln>
        </p:spPr>
      </p:sp>
      <p:sp>
        <p:nvSpPr>
          <p:cNvPr id="38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P in APRM. Key point: async processing keeps the UI fast.</a:t>
            </a:r>
            <a:endParaRPr b="0" lang="en-IN" sz="2000" spc="-1" strike="noStrike">
              <a:latin typeface="Arial"/>
            </a:endParaRPr>
          </a:p>
        </p:txBody>
      </p:sp>
      <p:sp>
        <p:nvSpPr>
          <p:cNvPr id="383" name="PlaceHolder 3"/>
          <p:cNvSpPr>
            <a:spLocks noGrp="1"/>
          </p:cNvSpPr>
          <p:nvPr>
            <p:ph type="sldNum" idx="1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68DBC935-AC9E-448B-8318-4FE9C5BDFF1D}"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1143000" y="685800"/>
            <a:ext cx="4571640" cy="3428640"/>
          </a:xfrm>
          <a:prstGeom prst="rect">
            <a:avLst/>
          </a:prstGeom>
          <a:ln w="0">
            <a:noFill/>
          </a:ln>
        </p:spPr>
      </p:sp>
      <p:sp>
        <p:nvSpPr>
          <p:cNvPr id="38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R in APRM. Explain vector search, keyword fallback, 0.42 threshold.</a:t>
            </a:r>
            <a:endParaRPr b="0" lang="en-IN" sz="2000" spc="-1" strike="noStrike">
              <a:latin typeface="Arial"/>
            </a:endParaRPr>
          </a:p>
        </p:txBody>
      </p:sp>
      <p:sp>
        <p:nvSpPr>
          <p:cNvPr id="386" name="PlaceHolder 3"/>
          <p:cNvSpPr>
            <a:spLocks noGrp="1"/>
          </p:cNvSpPr>
          <p:nvPr>
            <p:ph type="sldNum" idx="1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1F9F24E3-7F3A-4588-86E0-F32FA22EFA46}"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1143000" y="685800"/>
            <a:ext cx="4571640" cy="3428640"/>
          </a:xfrm>
          <a:prstGeom prst="rect">
            <a:avLst/>
          </a:prstGeom>
          <a:ln w="0">
            <a:noFill/>
          </a:ln>
        </p:spPr>
      </p:sp>
      <p:sp>
        <p:nvSpPr>
          <p:cNvPr id="38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M in APRM. Highlight strict format enforcement and the three-level fallback.</a:t>
            </a:r>
            <a:endParaRPr b="0" lang="en-IN" sz="2000" spc="-1" strike="noStrike">
              <a:latin typeface="Arial"/>
            </a:endParaRPr>
          </a:p>
        </p:txBody>
      </p:sp>
      <p:sp>
        <p:nvSpPr>
          <p:cNvPr id="389" name="PlaceHolder 3"/>
          <p:cNvSpPr>
            <a:spLocks noGrp="1"/>
          </p:cNvSpPr>
          <p:nvPr>
            <p:ph type="sldNum" idx="1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5779C26F-4C21-4B90-8B86-C719CA69F6C3}"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1143000" y="685800"/>
            <a:ext cx="4571640" cy="3428640"/>
          </a:xfrm>
          <a:prstGeom prst="rect">
            <a:avLst/>
          </a:prstGeom>
          <a:ln w="0">
            <a:noFill/>
          </a:ln>
        </p:spPr>
      </p:sp>
      <p:sp>
        <p:nvSpPr>
          <p:cNvPr id="39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Explain the React frontend: chat UI, quick chips, polling, and error handling.</a:t>
            </a:r>
            <a:endParaRPr b="0" lang="en-IN" sz="2000" spc="-1" strike="noStrike">
              <a:latin typeface="Arial"/>
            </a:endParaRPr>
          </a:p>
        </p:txBody>
      </p:sp>
      <p:sp>
        <p:nvSpPr>
          <p:cNvPr id="392" name="PlaceHolder 3"/>
          <p:cNvSpPr>
            <a:spLocks noGrp="1"/>
          </p:cNvSpPr>
          <p:nvPr>
            <p:ph type="sldNum" idx="1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AA47E95-8954-4C46-BD60-9857265FDA3D}"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1143000" y="685800"/>
            <a:ext cx="4571640" cy="3428640"/>
          </a:xfrm>
          <a:prstGeom prst="rect">
            <a:avLst/>
          </a:prstGeom>
          <a:ln w="0">
            <a:noFill/>
          </a:ln>
        </p:spPr>
      </p:sp>
      <p:sp>
        <p:nvSpPr>
          <p:cNvPr id="39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Cover database storage, data pipeline, and the safety/fallback system.</a:t>
            </a:r>
            <a:endParaRPr b="0" lang="en-IN" sz="2000" spc="-1" strike="noStrike">
              <a:latin typeface="Arial"/>
            </a:endParaRPr>
          </a:p>
        </p:txBody>
      </p:sp>
      <p:sp>
        <p:nvSpPr>
          <p:cNvPr id="395" name="PlaceHolder 3"/>
          <p:cNvSpPr>
            <a:spLocks noGrp="1"/>
          </p:cNvSpPr>
          <p:nvPr>
            <p:ph type="sldNum" idx="2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2AA6B33B-C478-44F8-843F-9645C23610C2}"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sldImg"/>
          </p:nvPr>
        </p:nvSpPr>
        <p:spPr>
          <a:xfrm>
            <a:off x="1143000" y="685800"/>
            <a:ext cx="4571640" cy="3428640"/>
          </a:xfrm>
          <a:prstGeom prst="rect">
            <a:avLst/>
          </a:prstGeom>
          <a:ln w="0">
            <a:noFill/>
          </a:ln>
        </p:spPr>
      </p:sp>
      <p:sp>
        <p:nvSpPr>
          <p:cNvPr id="39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List the complete tech stack.</a:t>
            </a:r>
            <a:endParaRPr b="0" lang="en-IN" sz="2000" spc="-1" strike="noStrike">
              <a:latin typeface="Arial"/>
            </a:endParaRPr>
          </a:p>
        </p:txBody>
      </p:sp>
      <p:sp>
        <p:nvSpPr>
          <p:cNvPr id="398" name="PlaceHolder 3"/>
          <p:cNvSpPr>
            <a:spLocks noGrp="1"/>
          </p:cNvSpPr>
          <p:nvPr>
            <p:ph type="sldNum" idx="2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1078CF34-2745-4081-B5A0-48AC10815A31}"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1143000" y="685800"/>
            <a:ext cx="4571640" cy="3428640"/>
          </a:xfrm>
          <a:prstGeom prst="rect">
            <a:avLst/>
          </a:prstGeom>
          <a:ln w="0">
            <a:noFill/>
          </a:ln>
        </p:spPr>
      </p:sp>
      <p:sp>
        <p:nvSpPr>
          <p:cNvPr id="40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Replace the placeholder with an actual screenshot: React chat UI with quick-question chips and text input</a:t>
            </a:r>
            <a:endParaRPr b="0" lang="en-IN" sz="2000" spc="-1" strike="noStrike">
              <a:latin typeface="Arial"/>
            </a:endParaRPr>
          </a:p>
        </p:txBody>
      </p:sp>
      <p:sp>
        <p:nvSpPr>
          <p:cNvPr id="401" name="PlaceHolder 3"/>
          <p:cNvSpPr>
            <a:spLocks noGrp="1"/>
          </p:cNvSpPr>
          <p:nvPr>
            <p:ph type="sldNum" idx="2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04149DB-F8CE-49FA-B571-844522116C9E}"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1143000" y="685800"/>
            <a:ext cx="4571640" cy="3428640"/>
          </a:xfrm>
          <a:prstGeom prst="rect">
            <a:avLst/>
          </a:prstGeom>
          <a:ln w="0">
            <a:noFill/>
          </a:ln>
        </p:spPr>
      </p:sp>
      <p:sp>
        <p:nvSpPr>
          <p:cNvPr id="40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Replace the placeholder with an actual screenshot: Loading state shown while Celery processes the query in background</a:t>
            </a:r>
            <a:endParaRPr b="0" lang="en-IN" sz="2000" spc="-1" strike="noStrike">
              <a:latin typeface="Arial"/>
            </a:endParaRPr>
          </a:p>
        </p:txBody>
      </p:sp>
      <p:sp>
        <p:nvSpPr>
          <p:cNvPr id="404" name="PlaceHolder 3"/>
          <p:cNvSpPr>
            <a:spLocks noGrp="1"/>
          </p:cNvSpPr>
          <p:nvPr>
            <p:ph type="sldNum" idx="2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8E30BBE8-AAA4-4F51-BCFF-1FBAE996DA0F}"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1143000" y="685800"/>
            <a:ext cx="4571640" cy="3428640"/>
          </a:xfrm>
          <a:prstGeom prst="rect">
            <a:avLst/>
          </a:prstGeom>
          <a:ln w="0">
            <a:noFill/>
          </a:ln>
        </p:spPr>
      </p:sp>
      <p:sp>
        <p:nvSpPr>
          <p:cNvPr id="40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Replace the placeholder with an actual screenshot: Structured LAW / SECTION / PUNISHMENT / NEXT STEPS / DISCLAIMER output</a:t>
            </a:r>
            <a:endParaRPr b="0" lang="en-IN" sz="2000" spc="-1" strike="noStrike">
              <a:latin typeface="Arial"/>
            </a:endParaRPr>
          </a:p>
        </p:txBody>
      </p:sp>
      <p:sp>
        <p:nvSpPr>
          <p:cNvPr id="407" name="PlaceHolder 3"/>
          <p:cNvSpPr>
            <a:spLocks noGrp="1"/>
          </p:cNvSpPr>
          <p:nvPr>
            <p:ph type="sldNum" idx="2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40F1FCF-5A51-4231-8C3D-149DE1368768}"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sldImg"/>
          </p:nvPr>
        </p:nvSpPr>
        <p:spPr>
          <a:xfrm>
            <a:off x="1143000" y="685800"/>
            <a:ext cx="4571640" cy="3428640"/>
          </a:xfrm>
          <a:prstGeom prst="rect">
            <a:avLst/>
          </a:prstGeom>
          <a:ln w="0">
            <a:noFill/>
          </a:ln>
        </p:spPr>
      </p:sp>
      <p:sp>
        <p:nvSpPr>
          <p:cNvPr id="40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Replace the placeholder with an actual screenshot: One-click legal query chip buttons for 55+ common issues</a:t>
            </a:r>
            <a:endParaRPr b="0" lang="en-IN" sz="2000" spc="-1" strike="noStrike">
              <a:latin typeface="Arial"/>
            </a:endParaRPr>
          </a:p>
        </p:txBody>
      </p:sp>
      <p:sp>
        <p:nvSpPr>
          <p:cNvPr id="410" name="PlaceHolder 3"/>
          <p:cNvSpPr>
            <a:spLocks noGrp="1"/>
          </p:cNvSpPr>
          <p:nvPr>
            <p:ph type="sldNum" idx="2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3B19D65D-CB27-4A62-909A-126FD4349B33}"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1143000" y="685800"/>
            <a:ext cx="4571640" cy="3428640"/>
          </a:xfrm>
          <a:prstGeom prst="rect">
            <a:avLst/>
          </a:prstGeom>
          <a:ln w="0">
            <a:noFill/>
          </a:ln>
        </p:spPr>
      </p:sp>
      <p:sp>
        <p:nvSpPr>
          <p:cNvPr id="41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Replace the placeholder with an actual screenshot: Paste your system architecture diagram or flowchart image here</a:t>
            </a:r>
            <a:endParaRPr b="0" lang="en-IN" sz="2000" spc="-1" strike="noStrike">
              <a:latin typeface="Arial"/>
            </a:endParaRPr>
          </a:p>
        </p:txBody>
      </p:sp>
      <p:sp>
        <p:nvSpPr>
          <p:cNvPr id="413" name="PlaceHolder 3"/>
          <p:cNvSpPr>
            <a:spLocks noGrp="1"/>
          </p:cNvSpPr>
          <p:nvPr>
            <p:ph type="sldNum" idx="2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5EEA3CE4-1B0F-41FD-B537-F10DBF214BD3}"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1143000" y="685800"/>
            <a:ext cx="4571640" cy="3428640"/>
          </a:xfrm>
          <a:prstGeom prst="rect">
            <a:avLst/>
          </a:prstGeom>
          <a:ln w="0">
            <a:noFill/>
          </a:ln>
        </p:spPr>
      </p:sp>
      <p:sp>
        <p:nvSpPr>
          <p:cNvPr id="41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Replace the placeholder with an actual screenshot: Docker Compose running all services: backend, frontend, Celery, Redis, Ollama</a:t>
            </a:r>
            <a:endParaRPr b="0" lang="en-IN" sz="2000" spc="-1" strike="noStrike">
              <a:latin typeface="Arial"/>
            </a:endParaRPr>
          </a:p>
        </p:txBody>
      </p:sp>
      <p:sp>
        <p:nvSpPr>
          <p:cNvPr id="416" name="PlaceHolder 3"/>
          <p:cNvSpPr>
            <a:spLocks noGrp="1"/>
          </p:cNvSpPr>
          <p:nvPr>
            <p:ph type="sldNum" idx="2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53E9CCB7-68FD-4DB8-8002-69A3618E2E55}"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1143000" y="685800"/>
            <a:ext cx="4571640" cy="3428640"/>
          </a:xfrm>
          <a:prstGeom prst="rect">
            <a:avLst/>
          </a:prstGeom>
          <a:ln w="0">
            <a:noFill/>
          </a:ln>
        </p:spPr>
      </p:sp>
      <p:sp>
        <p:nvSpPr>
          <p:cNvPr id="41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Summarize project impact and future scope. End confidently.</a:t>
            </a:r>
            <a:endParaRPr b="0" lang="en-IN" sz="2000" spc="-1" strike="noStrike">
              <a:latin typeface="Arial"/>
            </a:endParaRPr>
          </a:p>
        </p:txBody>
      </p:sp>
      <p:sp>
        <p:nvSpPr>
          <p:cNvPr id="419" name="PlaceHolder 3"/>
          <p:cNvSpPr>
            <a:spLocks noGrp="1"/>
          </p:cNvSpPr>
          <p:nvPr>
            <p:ph type="sldNum" idx="2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8CDAF6C3-D531-4107-B21D-3349F92DA1C8}"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1143000" y="685800"/>
            <a:ext cx="4571640" cy="3428640"/>
          </a:xfrm>
          <a:prstGeom prst="rect">
            <a:avLst/>
          </a:prstGeom>
          <a:ln w="0">
            <a:noFill/>
          </a:ln>
        </p:spPr>
      </p:sp>
      <p:sp>
        <p:nvSpPr>
          <p:cNvPr id="42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IN" sz="2000" spc="-1" strike="noStrike">
                <a:latin typeface="Arial"/>
              </a:rPr>
              <a:t>Thank the panel. Be ready for questions on architecture, modules, and demo.</a:t>
            </a:r>
            <a:endParaRPr b="0" lang="en-IN" sz="2000" spc="-1" strike="noStrike">
              <a:latin typeface="Arial"/>
            </a:endParaRPr>
          </a:p>
        </p:txBody>
      </p:sp>
      <p:sp>
        <p:nvSpPr>
          <p:cNvPr id="422" name="PlaceHolder 3"/>
          <p:cNvSpPr>
            <a:spLocks noGrp="1"/>
          </p:cNvSpPr>
          <p:nvPr>
            <p:ph type="sldNum" idx="2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B59D972-926E-433A-BA4D-B07885567F69}" type="slidenum">
              <a:rPr b="0" lang="en-US" sz="1200" spc="-1" strike="noStrike">
                <a:latin typeface="Times New Roman"/>
              </a:rPr>
              <a:t>&lt;number&gt;</a:t>
            </a:fld>
            <a:endParaRPr b="0" lang="en-IN"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A02C7BF4-FE2D-4E9C-BF83-ED71511209DD}"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5887340-A5DA-4CE4-8D99-C3531443F9FC}"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6A22A92-E98A-4573-A7A4-53312BC9272C}"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1FE8C2E-6142-4CBA-8E95-2F20DB3E509B}"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59933F76-F612-4149-BFFB-378D2EA20754}"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A0DBA639-5A59-4451-894F-0F8DC1A54B61}"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E48407B-DEE3-43F1-ABBB-D06C8B7983F5}"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65DB17B0-BCC9-4335-B719-3231A0465B9E}"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1325A1E-796D-4887-94CD-F759F6E95876}"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4F051CDF-64FC-4453-A727-192D2D2D8707}"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3B2729F9-E232-425E-85CD-82235BFA78D2}"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991C2803-B18A-4D94-B8BF-49DDAD2B3EAA}" type="slidenum">
              <a:t>&lt;#&gt;</a:t>
            </a:fld>
          </a:p>
        </p:txBody>
      </p:sp>
      <p:sp>
        <p:nvSpPr>
          <p:cNvPr id="11" name="PlaceHolder 10"/>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IN" sz="1200" spc="-1" strike="noStrike">
              <a:latin typeface="Times New Roman"/>
            </a:endParaRPr>
          </a:p>
        </p:txBody>
      </p:sp>
      <p:sp>
        <p:nvSpPr>
          <p:cNvPr id="1" name="PlaceHolder 2"/>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2F57FB5D-7FFC-4B8C-90E4-F62F52849985}" type="slidenum">
              <a:rPr b="0" lang="en-US" sz="1200" spc="-1" strike="noStrike">
                <a:solidFill>
                  <a:srgbClr val="8b8b8b"/>
                </a:solidFill>
                <a:latin typeface="Calibri"/>
              </a:rPr>
              <a:t>&lt;number&gt;</a:t>
            </a:fld>
            <a:endParaRPr b="0" lang="en-IN" sz="1200" spc="-1" strike="noStrike">
              <a:latin typeface="Times New Roman"/>
            </a:endParaRPr>
          </a:p>
        </p:txBody>
      </p:sp>
      <p:sp>
        <p:nvSpPr>
          <p:cNvPr id="3"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r>
              <a:rPr b="0" lang="en-US" sz="1800" spc="-1" strike="noStrike">
                <a:solidFill>
                  <a:srgbClr val="000000"/>
                </a:solidFill>
                <a:latin typeface="Calibri"/>
              </a:rPr>
              <a:t>Click to edit the title text format</a:t>
            </a:r>
            <a:endParaRPr b="0" lang="en-US" sz="1800" spc="-1" strike="noStrike">
              <a:solidFill>
                <a:srgbClr val="000000"/>
              </a:solidFill>
              <a:latin typeface="Calibri"/>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47" name="Rectangle 1"/>
          <p:cNvSpPr/>
          <p:nvPr/>
        </p:nvSpPr>
        <p:spPr>
          <a:xfrm>
            <a:off x="0" y="0"/>
            <a:ext cx="9143640" cy="685764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48" name="Rectangle 2"/>
          <p:cNvSpPr/>
          <p:nvPr/>
        </p:nvSpPr>
        <p:spPr>
          <a:xfrm>
            <a:off x="0" y="0"/>
            <a:ext cx="9143640" cy="9108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49" name="Oval 4"/>
          <p:cNvSpPr/>
          <p:nvPr/>
        </p:nvSpPr>
        <p:spPr>
          <a:xfrm>
            <a:off x="-1371600" y="4572000"/>
            <a:ext cx="3657240" cy="3657240"/>
          </a:xfrm>
          <a:prstGeom prst="ellipse">
            <a:avLst/>
          </a:prstGeom>
          <a:solidFill>
            <a:srgbClr val="1e1e1e"/>
          </a:solidFill>
          <a:ln w="9360">
            <a:noFill/>
          </a:ln>
          <a:effectLst>
            <a:outerShdw dist="23040" dir="5400000" blurRad="39960" rotWithShape="0">
              <a:srgbClr val="000000">
                <a:alpha val="35000"/>
              </a:srgbClr>
            </a:outerShdw>
          </a:effectLst>
        </p:spPr>
        <p:style>
          <a:lnRef idx="0"/>
          <a:fillRef idx="0"/>
          <a:effectRef idx="0"/>
          <a:fontRef idx="minor"/>
        </p:style>
      </p:sp>
      <p:sp>
        <p:nvSpPr>
          <p:cNvPr id="50" name="Rectangle 5"/>
          <p:cNvSpPr/>
          <p:nvPr/>
        </p:nvSpPr>
        <p:spPr>
          <a:xfrm>
            <a:off x="2926080" y="1828800"/>
            <a:ext cx="3291480" cy="5436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51" name="TextBox 6"/>
          <p:cNvSpPr/>
          <p:nvPr/>
        </p:nvSpPr>
        <p:spPr>
          <a:xfrm>
            <a:off x="2965320" y="2103120"/>
            <a:ext cx="3212280" cy="759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4400" spc="-1" strike="noStrike">
                <a:solidFill>
                  <a:srgbClr val="ffffff"/>
                </a:solidFill>
                <a:latin typeface="Calibri"/>
              </a:rPr>
              <a:t>Law Chatbot </a:t>
            </a:r>
            <a:endParaRPr b="0" lang="en-IN" sz="4400" spc="-1" strike="noStrike">
              <a:latin typeface="Arial"/>
            </a:endParaRPr>
          </a:p>
        </p:txBody>
      </p:sp>
      <p:sp>
        <p:nvSpPr>
          <p:cNvPr id="52" name="TextBox 7"/>
          <p:cNvSpPr/>
          <p:nvPr/>
        </p:nvSpPr>
        <p:spPr>
          <a:xfrm>
            <a:off x="2287440" y="3200400"/>
            <a:ext cx="4568760" cy="424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2200" spc="-1" strike="noStrike">
                <a:solidFill>
                  <a:srgbClr val="ffc107"/>
                </a:solidFill>
                <a:latin typeface="Calibri"/>
              </a:rPr>
              <a:t>AI Based Indian Legal Guidance System</a:t>
            </a:r>
            <a:endParaRPr b="0" lang="en-IN" sz="2200" spc="-1" strike="noStrike">
              <a:latin typeface="Arial"/>
            </a:endParaRPr>
          </a:p>
        </p:txBody>
      </p:sp>
      <p:sp>
        <p:nvSpPr>
          <p:cNvPr id="53" name="Rectangle 8"/>
          <p:cNvSpPr/>
          <p:nvPr/>
        </p:nvSpPr>
        <p:spPr>
          <a:xfrm>
            <a:off x="2926080" y="3931920"/>
            <a:ext cx="3291480" cy="5436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54" name="TextBox 9"/>
          <p:cNvSpPr/>
          <p:nvPr/>
        </p:nvSpPr>
        <p:spPr>
          <a:xfrm>
            <a:off x="502920" y="4206240"/>
            <a:ext cx="8137800" cy="1461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Aft>
                <a:spcPts val="799"/>
              </a:spcAft>
              <a:buNone/>
            </a:pPr>
            <a:r>
              <a:rPr b="0" lang="en-US" sz="1900" spc="-1" strike="noStrike">
                <a:solidFill>
                  <a:srgbClr val="bed2eb"/>
                </a:solidFill>
                <a:latin typeface="Calibri"/>
              </a:rPr>
              <a:t>Student Name:  [YOUR NAME]</a:t>
            </a:r>
            <a:endParaRPr b="0" lang="en-IN" sz="1900" spc="-1" strike="noStrike">
              <a:latin typeface="Arial"/>
            </a:endParaRPr>
          </a:p>
          <a:p>
            <a:pPr algn="ctr">
              <a:lnSpc>
                <a:spcPct val="100000"/>
              </a:lnSpc>
              <a:spcAft>
                <a:spcPts val="799"/>
              </a:spcAft>
              <a:buNone/>
            </a:pPr>
            <a:r>
              <a:rPr b="0" lang="en-US" sz="1700" spc="-1" strike="noStrike">
                <a:solidFill>
                  <a:srgbClr val="bed2eb"/>
                </a:solidFill>
                <a:latin typeface="Calibri"/>
              </a:rPr>
              <a:t>Department:  [YOUR DEPARTMENT]</a:t>
            </a:r>
            <a:endParaRPr b="0" lang="en-IN" sz="1700" spc="-1" strike="noStrike">
              <a:latin typeface="Arial"/>
            </a:endParaRPr>
          </a:p>
          <a:p>
            <a:pPr algn="ctr">
              <a:lnSpc>
                <a:spcPct val="100000"/>
              </a:lnSpc>
              <a:spcAft>
                <a:spcPts val="799"/>
              </a:spcAft>
              <a:buNone/>
            </a:pPr>
            <a:r>
              <a:rPr b="0" lang="en-US" sz="1700" spc="-1" strike="noStrike">
                <a:solidFill>
                  <a:srgbClr val="bed2eb"/>
                </a:solidFill>
                <a:latin typeface="Calibri"/>
              </a:rPr>
              <a:t>College:  [YOUR COLLEGE]</a:t>
            </a:r>
            <a:endParaRPr b="0" lang="en-IN" sz="1700" spc="-1" strike="noStrike">
              <a:latin typeface="Arial"/>
            </a:endParaRPr>
          </a:p>
          <a:p>
            <a:pPr algn="ctr">
              <a:lnSpc>
                <a:spcPct val="100000"/>
              </a:lnSpc>
              <a:spcAft>
                <a:spcPts val="799"/>
              </a:spcAft>
              <a:buNone/>
            </a:pPr>
            <a:r>
              <a:rPr b="0" lang="en-US" sz="1700" spc="-1" strike="noStrike">
                <a:solidFill>
                  <a:srgbClr val="bed2eb"/>
                </a:solidFill>
                <a:latin typeface="Calibri"/>
              </a:rPr>
              <a:t>Guide:  [GUIDE NAME]</a:t>
            </a:r>
            <a:endParaRPr b="0" lang="en-IN" sz="1700" spc="-1" strike="noStrike">
              <a:latin typeface="Arial"/>
            </a:endParaRPr>
          </a:p>
        </p:txBody>
      </p:sp>
      <p:sp>
        <p:nvSpPr>
          <p:cNvPr id="55" name="Rectangle 10"/>
          <p:cNvSpPr/>
          <p:nvPr/>
        </p:nvSpPr>
        <p:spPr>
          <a:xfrm>
            <a:off x="0" y="6766560"/>
            <a:ext cx="9143640" cy="9108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6"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57"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58"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59"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60"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61"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62"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63"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64" name="TextBox 9"/>
          <p:cNvSpPr/>
          <p:nvPr/>
        </p:nvSpPr>
        <p:spPr>
          <a:xfrm>
            <a:off x="8484840" y="6519600"/>
            <a:ext cx="23904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2</a:t>
            </a:r>
            <a:endParaRPr b="0" lang="en-IN" sz="900" spc="-1" strike="noStrike">
              <a:latin typeface="Arial"/>
            </a:endParaRPr>
          </a:p>
        </p:txBody>
      </p:sp>
      <p:sp>
        <p:nvSpPr>
          <p:cNvPr id="65"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Abstract</a:t>
            </a:r>
            <a:endParaRPr b="0" lang="en-IN" sz="2600" spc="-1" strike="noStrike">
              <a:latin typeface="Arial"/>
            </a:endParaRPr>
          </a:p>
        </p:txBody>
      </p:sp>
      <p:sp>
        <p:nvSpPr>
          <p:cNvPr id="66" name="Rounded Rectangle 11"/>
          <p:cNvSpPr/>
          <p:nvPr/>
        </p:nvSpPr>
        <p:spPr>
          <a:xfrm>
            <a:off x="502920" y="1097280"/>
            <a:ext cx="8137800" cy="5211720"/>
          </a:xfrm>
          <a:prstGeom prst="roundRect">
            <a:avLst>
              <a:gd name="adj" fmla="val 16667"/>
            </a:avLst>
          </a:prstGeom>
          <a:solidFill>
            <a:srgbClr val="ffffff"/>
          </a:solidFill>
          <a:ln w="15120">
            <a:solidFill>
              <a:srgbClr val="c8c8c8"/>
            </a:solidFill>
            <a:round/>
          </a:ln>
          <a:effectLst>
            <a:outerShdw dist="23040" dir="5400000" blurRad="39960" rotWithShape="0">
              <a:srgbClr val="000000">
                <a:alpha val="35000"/>
              </a:srgbClr>
            </a:outerShdw>
          </a:effectLst>
        </p:spPr>
        <p:style>
          <a:lnRef idx="0"/>
          <a:fillRef idx="0"/>
          <a:effectRef idx="0"/>
          <a:fontRef idx="minor"/>
        </p:style>
      </p:sp>
      <p:sp>
        <p:nvSpPr>
          <p:cNvPr id="67" name="TextBox 12"/>
          <p:cNvSpPr/>
          <p:nvPr/>
        </p:nvSpPr>
        <p:spPr>
          <a:xfrm>
            <a:off x="555840" y="1472760"/>
            <a:ext cx="7863480" cy="3700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799"/>
              </a:spcAft>
              <a:buNone/>
            </a:pPr>
            <a:r>
              <a:rPr b="0" lang="en-US" sz="1200" spc="-1" strike="noStrike">
                <a:solidFill>
                  <a:srgbClr val="1e1e1e"/>
                </a:solidFill>
                <a:latin typeface="Calibri"/>
              </a:rPr>
              <a:t>In India, many common people face legal problems every day but they do not know which law or section applies to their situation. Visiting a lawyer for every small question is costly and takes a lot of time. There is a clear need for a simple tool that can give basic legal direction to anyone instantly.</a:t>
            </a:r>
            <a:endParaRPr b="0" lang="en-IN" sz="1200" spc="-1" strike="noStrike">
              <a:latin typeface="Arial"/>
            </a:endParaRPr>
          </a:p>
          <a:p>
            <a:pPr>
              <a:lnSpc>
                <a:spcPct val="100000"/>
              </a:lnSpc>
              <a:spcAft>
                <a:spcPts val="799"/>
              </a:spcAft>
              <a:buNone/>
            </a:pPr>
            <a:r>
              <a:rPr b="0" lang="en-US" sz="1200" spc="-1" strike="noStrike">
                <a:solidFill>
                  <a:srgbClr val="1e1e1e"/>
                </a:solidFill>
                <a:latin typeface="Calibri"/>
              </a:rPr>
              <a:t>This project builds an AI-powered legal chatbot where users can type their legal issue in plain everyday language through a clean web-based chat interface. The system uses a Retrieval Augmented Generation (RAG) approach to find the most relevant Indian law sections from a curated knowledge base stored in ChromaDB vector database.</a:t>
            </a:r>
            <a:endParaRPr b="0" lang="en-IN" sz="1200" spc="-1" strike="noStrike">
              <a:latin typeface="Arial"/>
            </a:endParaRPr>
          </a:p>
          <a:p>
            <a:pPr>
              <a:lnSpc>
                <a:spcPct val="100000"/>
              </a:lnSpc>
              <a:spcAft>
                <a:spcPts val="799"/>
              </a:spcAft>
              <a:buNone/>
            </a:pPr>
            <a:r>
              <a:rPr b="0" lang="en-US" sz="1200" spc="-1" strike="noStrike">
                <a:solidFill>
                  <a:srgbClr val="1e1e1e"/>
                </a:solidFill>
                <a:latin typeface="Calibri"/>
              </a:rPr>
              <a:t>A dedicated Query Understanding module first cleans the user input by fixing spelling mistakes, expanding colloquial phrases, and detecting the legal intent of the question. This ensures that even poorly typed or informal queries are matched accurately.</a:t>
            </a:r>
            <a:endParaRPr b="0" lang="en-IN" sz="1200" spc="-1" strike="noStrike">
              <a:latin typeface="Arial"/>
            </a:endParaRPr>
          </a:p>
          <a:p>
            <a:pPr>
              <a:lnSpc>
                <a:spcPct val="100000"/>
              </a:lnSpc>
              <a:spcAft>
                <a:spcPts val="799"/>
              </a:spcAft>
              <a:buNone/>
            </a:pPr>
            <a:r>
              <a:rPr b="0" lang="en-US" sz="1200" spc="-1" strike="noStrike">
                <a:solidFill>
                  <a:srgbClr val="1e1e1e"/>
                </a:solidFill>
                <a:latin typeface="Calibri"/>
              </a:rPr>
              <a:t>The backend is built with Django REST Framework and uses Celery with Redis for asynchronous processing. This means the React frontend stays fast and responsive while the AI computation runs in the background without any delay to the user.</a:t>
            </a:r>
            <a:endParaRPr b="0" lang="en-IN" sz="1200" spc="-1" strike="noStrike">
              <a:latin typeface="Arial"/>
            </a:endParaRPr>
          </a:p>
          <a:p>
            <a:pPr>
              <a:lnSpc>
                <a:spcPct val="100000"/>
              </a:lnSpc>
              <a:spcAft>
                <a:spcPts val="799"/>
              </a:spcAft>
              <a:buNone/>
            </a:pPr>
            <a:r>
              <a:rPr b="0" lang="en-US" sz="1200" spc="-1" strike="noStrike">
                <a:solidFill>
                  <a:srgbClr val="1e1e1e"/>
                </a:solidFill>
                <a:latin typeface="Calibri"/>
              </a:rPr>
              <a:t>Once the relevant legal context is retrieved, the Ollama LLM generates a structured response in a fixed format containing LAW, SECTION, PUNISHMENT, NEXT STEPS, and DISCLAIMER. This gives users a clear and consistent answer every time they ask.</a:t>
            </a:r>
            <a:endParaRPr b="0" lang="en-IN" sz="1200" spc="-1" strike="noStrike">
              <a:latin typeface="Arial"/>
            </a:endParaRPr>
          </a:p>
          <a:p>
            <a:pPr>
              <a:lnSpc>
                <a:spcPct val="100000"/>
              </a:lnSpc>
              <a:spcAft>
                <a:spcPts val="799"/>
              </a:spcAft>
              <a:buNone/>
            </a:pPr>
            <a:r>
              <a:rPr b="0" lang="en-US" sz="1200" spc="-1" strike="noStrike">
                <a:solidFill>
                  <a:srgbClr val="1e1e1e"/>
                </a:solidFill>
                <a:latin typeface="Calibri"/>
              </a:rPr>
              <a:t>The frontend also provides 55+ quick-question buttons so users can ask common legal queries with a single click. Every response includes a safety disclaimer advising users to consult a qualified lawyer for final decisions. The overall goal is to bridge the legal awareness gap for ordinary citizens across India.</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8"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69"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70"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71"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72"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73"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74"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75"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76" name="TextBox 9"/>
          <p:cNvSpPr/>
          <p:nvPr/>
        </p:nvSpPr>
        <p:spPr>
          <a:xfrm>
            <a:off x="8484840" y="6519600"/>
            <a:ext cx="23904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3</a:t>
            </a:r>
            <a:endParaRPr b="0" lang="en-IN" sz="900" spc="-1" strike="noStrike">
              <a:latin typeface="Arial"/>
            </a:endParaRPr>
          </a:p>
        </p:txBody>
      </p:sp>
      <p:sp>
        <p:nvSpPr>
          <p:cNvPr id="77"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Existing System</a:t>
            </a:r>
            <a:endParaRPr b="0" lang="en-IN" sz="2600" spc="-1" strike="noStrike">
              <a:latin typeface="Arial"/>
            </a:endParaRPr>
          </a:p>
        </p:txBody>
      </p:sp>
      <p:sp>
        <p:nvSpPr>
          <p:cNvPr id="78" name="Rounded Rectangle 11"/>
          <p:cNvSpPr/>
          <p:nvPr/>
        </p:nvSpPr>
        <p:spPr>
          <a:xfrm>
            <a:off x="502920" y="1097280"/>
            <a:ext cx="8137800" cy="5211720"/>
          </a:xfrm>
          <a:prstGeom prst="roundRect">
            <a:avLst>
              <a:gd name="adj" fmla="val 16667"/>
            </a:avLst>
          </a:prstGeom>
          <a:solidFill>
            <a:srgbClr val="ffffff"/>
          </a:solidFill>
          <a:ln w="15120">
            <a:solidFill>
              <a:srgbClr val="c8c8c8"/>
            </a:solidFill>
            <a:round/>
          </a:ln>
          <a:effectLst>
            <a:outerShdw dist="23040" dir="5400000" blurRad="39960" rotWithShape="0">
              <a:srgbClr val="000000">
                <a:alpha val="35000"/>
              </a:srgbClr>
            </a:outerShdw>
          </a:effectLst>
        </p:spPr>
        <p:style>
          <a:lnRef idx="0"/>
          <a:fillRef idx="0"/>
          <a:effectRef idx="0"/>
          <a:fontRef idx="minor"/>
        </p:style>
      </p:sp>
      <p:sp>
        <p:nvSpPr>
          <p:cNvPr id="79" name="TextBox 12"/>
          <p:cNvSpPr/>
          <p:nvPr/>
        </p:nvSpPr>
        <p:spPr>
          <a:xfrm>
            <a:off x="640080" y="1234440"/>
            <a:ext cx="7863480" cy="21502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Users currently search for legal information on Google, government websites, or legal forums which give unstructured and often confusing results.</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People visit advocates or legal-aid centres even for basic questions, which costs money and takes time.</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Most legal websites use complex legal language that ordinary people cannot easily understand.</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There is no single system where a user can type a simple question and get a clear answer with law, section, punishment, and next steps.</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Existing search tools do not handle spelling mistakes or informal language, so users must know the exact legal terms to find anything useful.</a:t>
            </a:r>
            <a:endParaRPr b="0" lang="en-IN" sz="14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80"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81"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82"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83"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84"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85"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86"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87"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88" name="TextBox 9"/>
          <p:cNvSpPr/>
          <p:nvPr/>
        </p:nvSpPr>
        <p:spPr>
          <a:xfrm>
            <a:off x="8484840" y="6519600"/>
            <a:ext cx="23904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4</a:t>
            </a:r>
            <a:endParaRPr b="0" lang="en-IN" sz="900" spc="-1" strike="noStrike">
              <a:latin typeface="Arial"/>
            </a:endParaRPr>
          </a:p>
        </p:txBody>
      </p:sp>
      <p:sp>
        <p:nvSpPr>
          <p:cNvPr id="89"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Disadvantages of Existing System</a:t>
            </a:r>
            <a:endParaRPr b="0" lang="en-IN" sz="2600" spc="-1" strike="noStrike">
              <a:latin typeface="Arial"/>
            </a:endParaRPr>
          </a:p>
        </p:txBody>
      </p:sp>
      <p:sp>
        <p:nvSpPr>
          <p:cNvPr id="90" name="Rounded Rectangle 11"/>
          <p:cNvSpPr/>
          <p:nvPr/>
        </p:nvSpPr>
        <p:spPr>
          <a:xfrm>
            <a:off x="502920" y="1097280"/>
            <a:ext cx="8137800" cy="5211720"/>
          </a:xfrm>
          <a:prstGeom prst="roundRect">
            <a:avLst>
              <a:gd name="adj" fmla="val 16667"/>
            </a:avLst>
          </a:prstGeom>
          <a:solidFill>
            <a:srgbClr val="ffffff"/>
          </a:solidFill>
          <a:ln w="15120">
            <a:solidFill>
              <a:srgbClr val="c8c8c8"/>
            </a:solidFill>
            <a:round/>
          </a:ln>
          <a:effectLst>
            <a:outerShdw dist="23040" dir="5400000" blurRad="39960" rotWithShape="0">
              <a:srgbClr val="000000">
                <a:alpha val="35000"/>
              </a:srgbClr>
            </a:outerShdw>
          </a:effectLst>
        </p:spPr>
        <p:style>
          <a:lnRef idx="0"/>
          <a:fillRef idx="0"/>
          <a:effectRef idx="0"/>
          <a:fontRef idx="minor"/>
        </p:style>
      </p:sp>
      <p:sp>
        <p:nvSpPr>
          <p:cNvPr id="91" name="TextBox 12"/>
          <p:cNvSpPr/>
          <p:nvPr/>
        </p:nvSpPr>
        <p:spPr>
          <a:xfrm>
            <a:off x="640080" y="1234440"/>
            <a:ext cx="7863480" cy="24523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Time-consuming — Users spend hours searching across multiple websites without finding a clear answer.</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Expensive — Even a basic query like 'what to do if my bike is stolen' may need a paid lawyer visit.</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Hard to understand — Legal documents use formal language that ordinary people find very difficult to read.</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No typo handling — Search engines fail if the user types 'sallary not payed' or 'harrasment'.</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No structured answers — Results are long paragraphs; users must manually find the relevant law and section.</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Not available 24/7 — Helplines and legal offices only work during business hours.</a:t>
            </a:r>
            <a:endParaRPr b="0" lang="en-IN" sz="14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92"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93"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94"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95"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96"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97"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98"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99"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00" name="TextBox 9"/>
          <p:cNvSpPr/>
          <p:nvPr/>
        </p:nvSpPr>
        <p:spPr>
          <a:xfrm>
            <a:off x="8484840" y="6519600"/>
            <a:ext cx="23904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5</a:t>
            </a:r>
            <a:endParaRPr b="0" lang="en-IN" sz="900" spc="-1" strike="noStrike">
              <a:latin typeface="Arial"/>
            </a:endParaRPr>
          </a:p>
        </p:txBody>
      </p:sp>
      <p:sp>
        <p:nvSpPr>
          <p:cNvPr id="101"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Proposed System</a:t>
            </a:r>
            <a:endParaRPr b="0" lang="en-IN" sz="2600" spc="-1" strike="noStrike">
              <a:latin typeface="Arial"/>
            </a:endParaRPr>
          </a:p>
        </p:txBody>
      </p:sp>
      <p:sp>
        <p:nvSpPr>
          <p:cNvPr id="102" name="Rounded Rectangle 11"/>
          <p:cNvSpPr/>
          <p:nvPr/>
        </p:nvSpPr>
        <p:spPr>
          <a:xfrm>
            <a:off x="502920" y="1097280"/>
            <a:ext cx="8137800" cy="5211720"/>
          </a:xfrm>
          <a:prstGeom prst="roundRect">
            <a:avLst>
              <a:gd name="adj" fmla="val 16667"/>
            </a:avLst>
          </a:prstGeom>
          <a:solidFill>
            <a:srgbClr val="ffffff"/>
          </a:solidFill>
          <a:ln w="15120">
            <a:solidFill>
              <a:srgbClr val="c8c8c8"/>
            </a:solidFill>
            <a:round/>
          </a:ln>
          <a:effectLst>
            <a:outerShdw dist="23040" dir="5400000" blurRad="39960" rotWithShape="0">
              <a:srgbClr val="000000">
                <a:alpha val="35000"/>
              </a:srgbClr>
            </a:outerShdw>
          </a:effectLst>
        </p:spPr>
        <p:style>
          <a:lnRef idx="0"/>
          <a:fillRef idx="0"/>
          <a:effectRef idx="0"/>
          <a:fontRef idx="minor"/>
        </p:style>
      </p:sp>
      <p:sp>
        <p:nvSpPr>
          <p:cNvPr id="103" name="TextBox 12"/>
          <p:cNvSpPr/>
          <p:nvPr/>
        </p:nvSpPr>
        <p:spPr>
          <a:xfrm>
            <a:off x="640080" y="1234440"/>
            <a:ext cx="7863480" cy="28785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An AI-powered legal chatbot where users type their issue in plain language and get a structured legal answer instantly.</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Built with React frontend, Django REST backend, Celery async workers, and Ollama LLM running locally.</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The Query Understanding module fixes typos, expands informal phrases, and detects the legal intent before searching.</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A RAG pipeline searches the ChromaDB vector database for the most relevant Indian law sections using semantic similarity.</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The Ollama LLM generates a response in a fixed format: LAW, SECTION, PUNISHMENT, NEXT STEPS, and DISCLAIMER.</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The frontend includes 55+ quick-question buttons, real-time polling, and a mandatory safety disclaimer on every response.</a:t>
            </a:r>
            <a:endParaRPr b="0" lang="en-IN" sz="14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04"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105"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06"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107"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108"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109"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10"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111"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12" name="TextBox 9"/>
          <p:cNvSpPr/>
          <p:nvPr/>
        </p:nvSpPr>
        <p:spPr>
          <a:xfrm>
            <a:off x="8484840" y="6519600"/>
            <a:ext cx="23904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6</a:t>
            </a:r>
            <a:endParaRPr b="0" lang="en-IN" sz="900" spc="-1" strike="noStrike">
              <a:latin typeface="Arial"/>
            </a:endParaRPr>
          </a:p>
        </p:txBody>
      </p:sp>
      <p:sp>
        <p:nvSpPr>
          <p:cNvPr id="113"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Advantages of Proposed System</a:t>
            </a:r>
            <a:endParaRPr b="0" lang="en-IN" sz="2600" spc="-1" strike="noStrike">
              <a:latin typeface="Arial"/>
            </a:endParaRPr>
          </a:p>
        </p:txBody>
      </p:sp>
      <p:sp>
        <p:nvSpPr>
          <p:cNvPr id="114" name="Rounded Rectangle 11"/>
          <p:cNvSpPr/>
          <p:nvPr/>
        </p:nvSpPr>
        <p:spPr>
          <a:xfrm>
            <a:off x="502920" y="1097280"/>
            <a:ext cx="8137800" cy="5211720"/>
          </a:xfrm>
          <a:prstGeom prst="roundRect">
            <a:avLst>
              <a:gd name="adj" fmla="val 16667"/>
            </a:avLst>
          </a:prstGeom>
          <a:solidFill>
            <a:srgbClr val="ffffff"/>
          </a:solidFill>
          <a:ln w="15120">
            <a:solidFill>
              <a:srgbClr val="c8c8c8"/>
            </a:solidFill>
            <a:round/>
          </a:ln>
          <a:effectLst>
            <a:outerShdw dist="23040" dir="5400000" blurRad="39960" rotWithShape="0">
              <a:srgbClr val="000000">
                <a:alpha val="35000"/>
              </a:srgbClr>
            </a:outerShdw>
          </a:effectLst>
        </p:spPr>
        <p:style>
          <a:lnRef idx="0"/>
          <a:fillRef idx="0"/>
          <a:effectRef idx="0"/>
          <a:fontRef idx="minor"/>
        </p:style>
      </p:sp>
      <p:sp>
        <p:nvSpPr>
          <p:cNvPr id="115" name="TextBox 12"/>
          <p:cNvSpPr/>
          <p:nvPr/>
        </p:nvSpPr>
        <p:spPr>
          <a:xfrm>
            <a:off x="640080" y="1234440"/>
            <a:ext cx="7863480" cy="2026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Instant response — Users get a clear legal answer within seconds.</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Handles typos and informal language — No need to type perfect legal terms.</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Structured output — Every response follows LAW / SECTION / PUNISHMENT / NEXT STEPS / DISCLAIMER format.</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Available 24/7 — Works anytime as a web application, no office hours needed.</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Safe and responsible — Every answer includes a disclaimer to consult a real lawyer.</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Privacy friendly — AI runs locally using Ollama, no data sent to external cloud services.</a:t>
            </a:r>
            <a:endParaRPr b="0" lang="en-IN" sz="14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16"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117"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18"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119"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120"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121"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22"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123"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24" name="TextBox 9"/>
          <p:cNvSpPr/>
          <p:nvPr/>
        </p:nvSpPr>
        <p:spPr>
          <a:xfrm>
            <a:off x="8484840" y="6519600"/>
            <a:ext cx="23904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7</a:t>
            </a:r>
            <a:endParaRPr b="0" lang="en-IN" sz="900" spc="-1" strike="noStrike">
              <a:latin typeface="Arial"/>
            </a:endParaRPr>
          </a:p>
        </p:txBody>
      </p:sp>
      <p:sp>
        <p:nvSpPr>
          <p:cNvPr id="125"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APRM Architecture Diagram</a:t>
            </a:r>
            <a:endParaRPr b="0" lang="en-IN" sz="2600" spc="-1" strike="noStrike">
              <a:latin typeface="Arial"/>
            </a:endParaRPr>
          </a:p>
        </p:txBody>
      </p:sp>
      <p:sp>
        <p:nvSpPr>
          <p:cNvPr id="126" name="Rounded Rectangle 11"/>
          <p:cNvSpPr/>
          <p:nvPr/>
        </p:nvSpPr>
        <p:spPr>
          <a:xfrm>
            <a:off x="502920" y="1143000"/>
            <a:ext cx="1919880" cy="1416960"/>
          </a:xfrm>
          <a:prstGeom prst="roundRect">
            <a:avLst>
              <a:gd name="adj" fmla="val 16667"/>
            </a:avLst>
          </a:prstGeom>
          <a:solidFill>
            <a:srgbClr val="dcdcdc"/>
          </a:solidFill>
          <a:ln w="25560">
            <a:solidFill>
              <a:srgbClr val="505050"/>
            </a:solidFill>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300" spc="-1" strike="noStrike">
                <a:solidFill>
                  <a:srgbClr val="0a0a0a"/>
                </a:solidFill>
                <a:latin typeface="Calibri"/>
              </a:rPr>
              <a:t>A — Analyze</a:t>
            </a:r>
            <a:endParaRPr b="0" lang="en-IN" sz="1300" spc="-1" strike="noStrike">
              <a:latin typeface="Arial"/>
            </a:endParaRPr>
          </a:p>
          <a:p>
            <a:pPr algn="ctr">
              <a:lnSpc>
                <a:spcPct val="100000"/>
              </a:lnSpc>
              <a:buNone/>
            </a:pPr>
            <a:r>
              <a:rPr b="0" lang="en-US" sz="900" spc="-1" strike="noStrike">
                <a:solidFill>
                  <a:srgbClr val="1e1e1e"/>
                </a:solidFill>
                <a:latin typeface="Calibri"/>
              </a:rPr>
              <a:t>Query Understanding</a:t>
            </a:r>
            <a:endParaRPr b="0" lang="en-IN" sz="900" spc="-1" strike="noStrike">
              <a:latin typeface="Arial"/>
            </a:endParaRPr>
          </a:p>
          <a:p>
            <a:pPr algn="ctr">
              <a:lnSpc>
                <a:spcPct val="100000"/>
              </a:lnSpc>
              <a:buNone/>
            </a:pPr>
            <a:r>
              <a:rPr b="0" lang="en-US" sz="900" spc="-1" strike="noStrike">
                <a:solidFill>
                  <a:srgbClr val="1e1e1e"/>
                </a:solidFill>
                <a:latin typeface="Calibri"/>
              </a:rPr>
              <a:t>Typo Fix</a:t>
            </a:r>
            <a:endParaRPr b="0" lang="en-IN" sz="900" spc="-1" strike="noStrike">
              <a:latin typeface="Arial"/>
            </a:endParaRPr>
          </a:p>
          <a:p>
            <a:pPr algn="ctr">
              <a:lnSpc>
                <a:spcPct val="100000"/>
              </a:lnSpc>
              <a:buNone/>
            </a:pPr>
            <a:r>
              <a:rPr b="0" lang="en-US" sz="900" spc="-1" strike="noStrike">
                <a:solidFill>
                  <a:srgbClr val="1e1e1e"/>
                </a:solidFill>
                <a:latin typeface="Calibri"/>
              </a:rPr>
              <a:t>Intent Detection</a:t>
            </a:r>
            <a:endParaRPr b="0" lang="en-IN" sz="900" spc="-1" strike="noStrike">
              <a:latin typeface="Arial"/>
            </a:endParaRPr>
          </a:p>
          <a:p>
            <a:pPr algn="ctr">
              <a:lnSpc>
                <a:spcPct val="100000"/>
              </a:lnSpc>
              <a:buNone/>
            </a:pPr>
            <a:r>
              <a:rPr b="0" lang="en-US" sz="900" spc="-1" strike="noStrike">
                <a:solidFill>
                  <a:srgbClr val="1e1e1e"/>
                </a:solidFill>
                <a:latin typeface="Calibri"/>
              </a:rPr>
              <a:t>Phrase Expansion</a:t>
            </a:r>
            <a:endParaRPr b="0" lang="en-IN" sz="900" spc="-1" strike="noStrike">
              <a:latin typeface="Arial"/>
            </a:endParaRPr>
          </a:p>
        </p:txBody>
      </p:sp>
      <p:sp>
        <p:nvSpPr>
          <p:cNvPr id="127" name="Rounded Rectangle 12"/>
          <p:cNvSpPr/>
          <p:nvPr/>
        </p:nvSpPr>
        <p:spPr>
          <a:xfrm>
            <a:off x="2532960" y="1143000"/>
            <a:ext cx="1919880" cy="1416960"/>
          </a:xfrm>
          <a:prstGeom prst="roundRect">
            <a:avLst>
              <a:gd name="adj" fmla="val 16667"/>
            </a:avLst>
          </a:prstGeom>
          <a:solidFill>
            <a:srgbClr val="c8f0d2"/>
          </a:solidFill>
          <a:ln w="25560">
            <a:solidFill>
              <a:srgbClr val="3ca064"/>
            </a:solidFill>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300" spc="-1" strike="noStrike">
                <a:solidFill>
                  <a:srgbClr val="0a0a0a"/>
                </a:solidFill>
                <a:latin typeface="Calibri"/>
              </a:rPr>
              <a:t>P — Process</a:t>
            </a:r>
            <a:endParaRPr b="0" lang="en-IN" sz="1300" spc="-1" strike="noStrike">
              <a:latin typeface="Arial"/>
            </a:endParaRPr>
          </a:p>
          <a:p>
            <a:pPr algn="ctr">
              <a:lnSpc>
                <a:spcPct val="100000"/>
              </a:lnSpc>
              <a:buNone/>
            </a:pPr>
            <a:r>
              <a:rPr b="0" lang="en-US" sz="900" spc="-1" strike="noStrike">
                <a:solidFill>
                  <a:srgbClr val="1e1e1e"/>
                </a:solidFill>
                <a:latin typeface="Calibri"/>
              </a:rPr>
              <a:t>Django REST API</a:t>
            </a:r>
            <a:endParaRPr b="0" lang="en-IN" sz="900" spc="-1" strike="noStrike">
              <a:latin typeface="Arial"/>
            </a:endParaRPr>
          </a:p>
          <a:p>
            <a:pPr algn="ctr">
              <a:lnSpc>
                <a:spcPct val="100000"/>
              </a:lnSpc>
              <a:buNone/>
            </a:pPr>
            <a:r>
              <a:rPr b="0" lang="en-US" sz="900" spc="-1" strike="noStrike">
                <a:solidFill>
                  <a:srgbClr val="1e1e1e"/>
                </a:solidFill>
                <a:latin typeface="Calibri"/>
              </a:rPr>
              <a:t>Celery Task Queue</a:t>
            </a:r>
            <a:endParaRPr b="0" lang="en-IN" sz="900" spc="-1" strike="noStrike">
              <a:latin typeface="Arial"/>
            </a:endParaRPr>
          </a:p>
          <a:p>
            <a:pPr algn="ctr">
              <a:lnSpc>
                <a:spcPct val="100000"/>
              </a:lnSpc>
              <a:buNone/>
            </a:pPr>
            <a:r>
              <a:rPr b="0" lang="en-US" sz="900" spc="-1" strike="noStrike">
                <a:solidFill>
                  <a:srgbClr val="1e1e1e"/>
                </a:solidFill>
                <a:latin typeface="Calibri"/>
              </a:rPr>
              <a:t>Redis Broker</a:t>
            </a:r>
            <a:endParaRPr b="0" lang="en-IN" sz="900" spc="-1" strike="noStrike">
              <a:latin typeface="Arial"/>
            </a:endParaRPr>
          </a:p>
          <a:p>
            <a:pPr algn="ctr">
              <a:lnSpc>
                <a:spcPct val="100000"/>
              </a:lnSpc>
              <a:buNone/>
            </a:pPr>
            <a:r>
              <a:rPr b="0" lang="en-US" sz="900" spc="-1" strike="noStrike">
                <a:solidFill>
                  <a:srgbClr val="1e1e1e"/>
                </a:solidFill>
                <a:latin typeface="Calibri"/>
              </a:rPr>
              <a:t>Async Dispatch</a:t>
            </a:r>
            <a:endParaRPr b="0" lang="en-IN" sz="900" spc="-1" strike="noStrike">
              <a:latin typeface="Arial"/>
            </a:endParaRPr>
          </a:p>
        </p:txBody>
      </p:sp>
      <p:sp>
        <p:nvSpPr>
          <p:cNvPr id="128" name="Rounded Rectangle 13"/>
          <p:cNvSpPr/>
          <p:nvPr/>
        </p:nvSpPr>
        <p:spPr>
          <a:xfrm>
            <a:off x="4563000" y="1143000"/>
            <a:ext cx="1919880" cy="1416960"/>
          </a:xfrm>
          <a:prstGeom prst="roundRect">
            <a:avLst>
              <a:gd name="adj" fmla="val 16667"/>
            </a:avLst>
          </a:prstGeom>
          <a:solidFill>
            <a:srgbClr val="ffe6c8"/>
          </a:solidFill>
          <a:ln w="25560">
            <a:solidFill>
              <a:srgbClr val="dc8c32"/>
            </a:solidFill>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300" spc="-1" strike="noStrike">
                <a:solidFill>
                  <a:srgbClr val="0a0a0a"/>
                </a:solidFill>
                <a:latin typeface="Calibri"/>
              </a:rPr>
              <a:t>R — Retrieve</a:t>
            </a:r>
            <a:endParaRPr b="0" lang="en-IN" sz="1300" spc="-1" strike="noStrike">
              <a:latin typeface="Arial"/>
            </a:endParaRPr>
          </a:p>
          <a:p>
            <a:pPr algn="ctr">
              <a:lnSpc>
                <a:spcPct val="100000"/>
              </a:lnSpc>
              <a:buNone/>
            </a:pPr>
            <a:r>
              <a:rPr b="0" lang="en-US" sz="900" spc="-1" strike="noStrike">
                <a:solidFill>
                  <a:srgbClr val="1e1e1e"/>
                </a:solidFill>
                <a:latin typeface="Calibri"/>
              </a:rPr>
              <a:t>ChromaDB Vectors</a:t>
            </a:r>
            <a:endParaRPr b="0" lang="en-IN" sz="900" spc="-1" strike="noStrike">
              <a:latin typeface="Arial"/>
            </a:endParaRPr>
          </a:p>
          <a:p>
            <a:pPr algn="ctr">
              <a:lnSpc>
                <a:spcPct val="100000"/>
              </a:lnSpc>
              <a:buNone/>
            </a:pPr>
            <a:r>
              <a:rPr b="0" lang="en-US" sz="900" spc="-1" strike="noStrike">
                <a:solidFill>
                  <a:srgbClr val="1e1e1e"/>
                </a:solidFill>
                <a:latin typeface="Calibri"/>
              </a:rPr>
              <a:t>Keyword Fallback</a:t>
            </a:r>
            <a:endParaRPr b="0" lang="en-IN" sz="900" spc="-1" strike="noStrike">
              <a:latin typeface="Arial"/>
            </a:endParaRPr>
          </a:p>
          <a:p>
            <a:pPr algn="ctr">
              <a:lnSpc>
                <a:spcPct val="100000"/>
              </a:lnSpc>
              <a:buNone/>
            </a:pPr>
            <a:r>
              <a:rPr b="0" lang="en-US" sz="900" spc="-1" strike="noStrike">
                <a:solidFill>
                  <a:srgbClr val="1e1e1e"/>
                </a:solidFill>
                <a:latin typeface="Calibri"/>
              </a:rPr>
              <a:t>Synonym Expansion</a:t>
            </a:r>
            <a:endParaRPr b="0" lang="en-IN" sz="900" spc="-1" strike="noStrike">
              <a:latin typeface="Arial"/>
            </a:endParaRPr>
          </a:p>
          <a:p>
            <a:pPr algn="ctr">
              <a:lnSpc>
                <a:spcPct val="100000"/>
              </a:lnSpc>
              <a:buNone/>
            </a:pPr>
            <a:r>
              <a:rPr b="0" lang="en-US" sz="900" spc="-1" strike="noStrike">
                <a:solidFill>
                  <a:srgbClr val="1e1e1e"/>
                </a:solidFill>
                <a:latin typeface="Calibri"/>
              </a:rPr>
              <a:t>Confidence Score</a:t>
            </a:r>
            <a:endParaRPr b="0" lang="en-IN" sz="900" spc="-1" strike="noStrike">
              <a:latin typeface="Arial"/>
            </a:endParaRPr>
          </a:p>
        </p:txBody>
      </p:sp>
      <p:sp>
        <p:nvSpPr>
          <p:cNvPr id="129" name="Rounded Rectangle 14"/>
          <p:cNvSpPr/>
          <p:nvPr/>
        </p:nvSpPr>
        <p:spPr>
          <a:xfrm>
            <a:off x="6592680" y="1143000"/>
            <a:ext cx="1919880" cy="1416960"/>
          </a:xfrm>
          <a:prstGeom prst="roundRect">
            <a:avLst>
              <a:gd name="adj" fmla="val 16667"/>
            </a:avLst>
          </a:prstGeom>
          <a:solidFill>
            <a:srgbClr val="e1d7fa"/>
          </a:solidFill>
          <a:ln w="25560">
            <a:solidFill>
              <a:srgbClr val="8264c8"/>
            </a:solidFill>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300" spc="-1" strike="noStrike">
                <a:solidFill>
                  <a:srgbClr val="0a0a0a"/>
                </a:solidFill>
                <a:latin typeface="Calibri"/>
              </a:rPr>
              <a:t>M — Model</a:t>
            </a:r>
            <a:endParaRPr b="0" lang="en-IN" sz="1300" spc="-1" strike="noStrike">
              <a:latin typeface="Arial"/>
            </a:endParaRPr>
          </a:p>
          <a:p>
            <a:pPr algn="ctr">
              <a:lnSpc>
                <a:spcPct val="100000"/>
              </a:lnSpc>
              <a:buNone/>
            </a:pPr>
            <a:r>
              <a:rPr b="0" lang="en-US" sz="900" spc="-1" strike="noStrike">
                <a:solidFill>
                  <a:srgbClr val="1e1e1e"/>
                </a:solidFill>
                <a:latin typeface="Calibri"/>
              </a:rPr>
              <a:t>Ollama LLM</a:t>
            </a:r>
            <a:endParaRPr b="0" lang="en-IN" sz="900" spc="-1" strike="noStrike">
              <a:latin typeface="Arial"/>
            </a:endParaRPr>
          </a:p>
          <a:p>
            <a:pPr algn="ctr">
              <a:lnSpc>
                <a:spcPct val="100000"/>
              </a:lnSpc>
              <a:buNone/>
            </a:pPr>
            <a:r>
              <a:rPr b="0" lang="en-US" sz="900" spc="-1" strike="noStrike">
                <a:solidFill>
                  <a:srgbClr val="1e1e1e"/>
                </a:solidFill>
                <a:latin typeface="Calibri"/>
              </a:rPr>
              <a:t>Strict Prompt</a:t>
            </a:r>
            <a:endParaRPr b="0" lang="en-IN" sz="900" spc="-1" strike="noStrike">
              <a:latin typeface="Arial"/>
            </a:endParaRPr>
          </a:p>
          <a:p>
            <a:pPr algn="ctr">
              <a:lnSpc>
                <a:spcPct val="100000"/>
              </a:lnSpc>
              <a:buNone/>
            </a:pPr>
            <a:r>
              <a:rPr b="0" lang="en-US" sz="900" spc="-1" strike="noStrike">
                <a:solidFill>
                  <a:srgbClr val="1e1e1e"/>
                </a:solidFill>
                <a:latin typeface="Calibri"/>
              </a:rPr>
              <a:t>Fallback Chain</a:t>
            </a:r>
            <a:endParaRPr b="0" lang="en-IN" sz="900" spc="-1" strike="noStrike">
              <a:latin typeface="Arial"/>
            </a:endParaRPr>
          </a:p>
          <a:p>
            <a:pPr algn="ctr">
              <a:lnSpc>
                <a:spcPct val="100000"/>
              </a:lnSpc>
              <a:buNone/>
            </a:pPr>
            <a:r>
              <a:rPr b="0" lang="en-US" sz="900" spc="-1" strike="noStrike">
                <a:solidFill>
                  <a:srgbClr val="1e1e1e"/>
                </a:solidFill>
                <a:latin typeface="Calibri"/>
              </a:rPr>
              <a:t>Structured Output</a:t>
            </a:r>
            <a:endParaRPr b="0" lang="en-IN" sz="900" spc="-1" strike="noStrike">
              <a:latin typeface="Arial"/>
            </a:endParaRPr>
          </a:p>
        </p:txBody>
      </p:sp>
      <p:sp>
        <p:nvSpPr>
          <p:cNvPr id="130" name="Connector 15"/>
          <p:cNvSpPr/>
          <p:nvPr/>
        </p:nvSpPr>
        <p:spPr>
          <a:xfrm>
            <a:off x="2423160" y="1851480"/>
            <a:ext cx="109440" cy="360"/>
          </a:xfrm>
          <a:prstGeom prst="line">
            <a:avLst/>
          </a:prstGeom>
          <a:ln w="31680">
            <a:solidFill>
              <a:srgbClr val="008080"/>
            </a:solidFill>
            <a:round/>
          </a:ln>
        </p:spPr>
        <p:style>
          <a:lnRef idx="0"/>
          <a:fillRef idx="0"/>
          <a:effectRef idx="0"/>
          <a:fontRef idx="minor"/>
        </p:style>
      </p:sp>
      <p:sp>
        <p:nvSpPr>
          <p:cNvPr id="131" name="Connector 16"/>
          <p:cNvSpPr/>
          <p:nvPr/>
        </p:nvSpPr>
        <p:spPr>
          <a:xfrm>
            <a:off x="4452840" y="1851480"/>
            <a:ext cx="109800" cy="360"/>
          </a:xfrm>
          <a:prstGeom prst="line">
            <a:avLst/>
          </a:prstGeom>
          <a:ln w="31680">
            <a:solidFill>
              <a:srgbClr val="008080"/>
            </a:solidFill>
            <a:round/>
          </a:ln>
        </p:spPr>
        <p:style>
          <a:lnRef idx="0"/>
          <a:fillRef idx="0"/>
          <a:effectRef idx="0"/>
          <a:fontRef idx="minor"/>
        </p:style>
      </p:sp>
      <p:sp>
        <p:nvSpPr>
          <p:cNvPr id="132" name="Connector 17"/>
          <p:cNvSpPr/>
          <p:nvPr/>
        </p:nvSpPr>
        <p:spPr>
          <a:xfrm>
            <a:off x="6482880" y="1851480"/>
            <a:ext cx="109800" cy="360"/>
          </a:xfrm>
          <a:prstGeom prst="line">
            <a:avLst/>
          </a:prstGeom>
          <a:ln w="31680">
            <a:solidFill>
              <a:srgbClr val="008080"/>
            </a:solidFill>
            <a:round/>
          </a:ln>
        </p:spPr>
        <p:style>
          <a:lnRef idx="0"/>
          <a:fillRef idx="0"/>
          <a:effectRef idx="0"/>
          <a:fontRef idx="minor"/>
        </p:style>
      </p:sp>
      <p:sp>
        <p:nvSpPr>
          <p:cNvPr id="133" name="Rounded Rectangle 18"/>
          <p:cNvSpPr/>
          <p:nvPr/>
        </p:nvSpPr>
        <p:spPr>
          <a:xfrm>
            <a:off x="640080" y="2880360"/>
            <a:ext cx="1462680" cy="502560"/>
          </a:xfrm>
          <a:prstGeom prst="roundRect">
            <a:avLst>
              <a:gd name="adj" fmla="val 16667"/>
            </a:avLst>
          </a:prstGeom>
          <a:solidFill>
            <a:srgbClr val="ff6b6b"/>
          </a:solidFill>
          <a:ln w="9360">
            <a:noFill/>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000" spc="-1" strike="noStrike">
                <a:solidFill>
                  <a:srgbClr val="ffffff"/>
                </a:solidFill>
                <a:latin typeface="Calibri"/>
              </a:rPr>
              <a:t>React</a:t>
            </a:r>
            <a:endParaRPr b="0" lang="en-IN" sz="1000" spc="-1" strike="noStrike">
              <a:latin typeface="Arial"/>
            </a:endParaRPr>
          </a:p>
        </p:txBody>
      </p:sp>
      <p:sp>
        <p:nvSpPr>
          <p:cNvPr id="134" name="Rounded Rectangle 19"/>
          <p:cNvSpPr/>
          <p:nvPr/>
        </p:nvSpPr>
        <p:spPr>
          <a:xfrm>
            <a:off x="2267640" y="2880360"/>
            <a:ext cx="1462680" cy="502560"/>
          </a:xfrm>
          <a:prstGeom prst="roundRect">
            <a:avLst>
              <a:gd name="adj" fmla="val 16667"/>
            </a:avLst>
          </a:prstGeom>
          <a:solidFill>
            <a:srgbClr val="5a5a5a"/>
          </a:solidFill>
          <a:ln w="9360">
            <a:noFill/>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000" spc="-1" strike="noStrike">
                <a:solidFill>
                  <a:srgbClr val="ffffff"/>
                </a:solidFill>
                <a:latin typeface="Calibri"/>
              </a:rPr>
              <a:t>SQLite</a:t>
            </a:r>
            <a:endParaRPr b="0" lang="en-IN" sz="1000" spc="-1" strike="noStrike">
              <a:latin typeface="Arial"/>
            </a:endParaRPr>
          </a:p>
        </p:txBody>
      </p:sp>
      <p:sp>
        <p:nvSpPr>
          <p:cNvPr id="135" name="Rounded Rectangle 20"/>
          <p:cNvSpPr/>
          <p:nvPr/>
        </p:nvSpPr>
        <p:spPr>
          <a:xfrm>
            <a:off x="3895200" y="2880360"/>
            <a:ext cx="1462680" cy="502560"/>
          </a:xfrm>
          <a:prstGeom prst="roundRect">
            <a:avLst>
              <a:gd name="adj" fmla="val 16667"/>
            </a:avLst>
          </a:prstGeom>
          <a:solidFill>
            <a:srgbClr val="64dcb4"/>
          </a:solidFill>
          <a:ln w="9360">
            <a:noFill/>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000" spc="-1" strike="noStrike">
                <a:solidFill>
                  <a:srgbClr val="ffffff"/>
                </a:solidFill>
                <a:latin typeface="Calibri"/>
              </a:rPr>
              <a:t>ChromaDB</a:t>
            </a:r>
            <a:endParaRPr b="0" lang="en-IN" sz="1000" spc="-1" strike="noStrike">
              <a:latin typeface="Arial"/>
            </a:endParaRPr>
          </a:p>
        </p:txBody>
      </p:sp>
      <p:sp>
        <p:nvSpPr>
          <p:cNvPr id="136" name="Rounded Rectangle 21"/>
          <p:cNvSpPr/>
          <p:nvPr/>
        </p:nvSpPr>
        <p:spPr>
          <a:xfrm>
            <a:off x="5523120" y="2880360"/>
            <a:ext cx="1462680" cy="502560"/>
          </a:xfrm>
          <a:prstGeom prst="roundRect">
            <a:avLst>
              <a:gd name="adj" fmla="val 16667"/>
            </a:avLst>
          </a:prstGeom>
          <a:solidFill>
            <a:srgbClr val="ff9800"/>
          </a:solidFill>
          <a:ln w="9360">
            <a:noFill/>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000" spc="-1" strike="noStrike">
                <a:solidFill>
                  <a:srgbClr val="ffffff"/>
                </a:solidFill>
                <a:latin typeface="Calibri"/>
              </a:rPr>
              <a:t>Redis</a:t>
            </a:r>
            <a:endParaRPr b="0" lang="en-IN" sz="1000" spc="-1" strike="noStrike">
              <a:latin typeface="Arial"/>
            </a:endParaRPr>
          </a:p>
        </p:txBody>
      </p:sp>
      <p:sp>
        <p:nvSpPr>
          <p:cNvPr id="137" name="Rounded Rectangle 22"/>
          <p:cNvSpPr/>
          <p:nvPr/>
        </p:nvSpPr>
        <p:spPr>
          <a:xfrm>
            <a:off x="7150680" y="2880360"/>
            <a:ext cx="1462680" cy="502560"/>
          </a:xfrm>
          <a:prstGeom prst="roundRect">
            <a:avLst>
              <a:gd name="adj" fmla="val 16667"/>
            </a:avLst>
          </a:prstGeom>
          <a:solidFill>
            <a:srgbClr val="9c88ff"/>
          </a:solidFill>
          <a:ln w="9360">
            <a:noFill/>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000" spc="-1" strike="noStrike">
                <a:solidFill>
                  <a:srgbClr val="ffffff"/>
                </a:solidFill>
                <a:latin typeface="Calibri"/>
              </a:rPr>
              <a:t>Ollama</a:t>
            </a:r>
            <a:endParaRPr b="0" lang="en-IN" sz="1000" spc="-1" strike="noStrike">
              <a:latin typeface="Arial"/>
            </a:endParaRPr>
          </a:p>
        </p:txBody>
      </p:sp>
      <p:sp>
        <p:nvSpPr>
          <p:cNvPr id="138" name="Rounded Rectangle 23"/>
          <p:cNvSpPr/>
          <p:nvPr/>
        </p:nvSpPr>
        <p:spPr>
          <a:xfrm>
            <a:off x="502920" y="3611880"/>
            <a:ext cx="8137800" cy="2697120"/>
          </a:xfrm>
          <a:prstGeom prst="roundRect">
            <a:avLst>
              <a:gd name="adj" fmla="val 16667"/>
            </a:avLst>
          </a:prstGeom>
          <a:solidFill>
            <a:srgbClr val="ffffff"/>
          </a:solidFill>
          <a:ln w="15120">
            <a:solidFill>
              <a:srgbClr val="c8c8c8"/>
            </a:solidFill>
            <a:round/>
          </a:ln>
          <a:effectLst>
            <a:outerShdw dist="23040" dir="5400000" blurRad="39960" rotWithShape="0">
              <a:srgbClr val="000000">
                <a:alpha val="35000"/>
              </a:srgbClr>
            </a:outerShdw>
          </a:effectLst>
        </p:spPr>
        <p:style>
          <a:lnRef idx="0"/>
          <a:fillRef idx="0"/>
          <a:effectRef idx="0"/>
          <a:fontRef idx="minor"/>
        </p:style>
      </p:sp>
      <p:sp>
        <p:nvSpPr>
          <p:cNvPr id="139" name="TextBox 24"/>
          <p:cNvSpPr/>
          <p:nvPr/>
        </p:nvSpPr>
        <p:spPr>
          <a:xfrm>
            <a:off x="640080" y="3703320"/>
            <a:ext cx="7863480" cy="15170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201"/>
              </a:spcAft>
              <a:buNone/>
            </a:pPr>
            <a:r>
              <a:rPr b="1" lang="en-US" sz="1200" spc="-1" strike="noStrike">
                <a:solidFill>
                  <a:srgbClr val="0a0a0a"/>
                </a:solidFill>
                <a:latin typeface="Calibri"/>
              </a:rPr>
              <a:t>Data Flow:</a:t>
            </a:r>
            <a:endParaRPr b="0" lang="en-IN" sz="1200" spc="-1" strike="noStrike">
              <a:latin typeface="Arial"/>
            </a:endParaRPr>
          </a:p>
          <a:p>
            <a:pPr>
              <a:lnSpc>
                <a:spcPct val="100000"/>
              </a:lnSpc>
              <a:spcAft>
                <a:spcPts val="201"/>
              </a:spcAft>
              <a:buNone/>
            </a:pPr>
            <a:r>
              <a:rPr b="0" lang="en-US" sz="1000" spc="-1" strike="noStrike">
                <a:solidFill>
                  <a:srgbClr val="1e1e1e"/>
                </a:solidFill>
                <a:latin typeface="Calibri"/>
              </a:rPr>
              <a:t>1.  User types query in React UI  →  sent to Django REST API</a:t>
            </a:r>
            <a:endParaRPr b="0" lang="en-IN" sz="1000" spc="-1" strike="noStrike">
              <a:latin typeface="Arial"/>
            </a:endParaRPr>
          </a:p>
          <a:p>
            <a:pPr>
              <a:lnSpc>
                <a:spcPct val="100000"/>
              </a:lnSpc>
              <a:spcAft>
                <a:spcPts val="201"/>
              </a:spcAft>
              <a:buNone/>
            </a:pPr>
            <a:r>
              <a:rPr b="0" lang="en-US" sz="1000" spc="-1" strike="noStrike">
                <a:solidFill>
                  <a:srgbClr val="1e1e1e"/>
                </a:solidFill>
                <a:latin typeface="Calibri"/>
              </a:rPr>
              <a:t>2.  API saves record  →  dispatches Celery task via Redis</a:t>
            </a:r>
            <a:endParaRPr b="0" lang="en-IN" sz="1000" spc="-1" strike="noStrike">
              <a:latin typeface="Arial"/>
            </a:endParaRPr>
          </a:p>
          <a:p>
            <a:pPr>
              <a:lnSpc>
                <a:spcPct val="100000"/>
              </a:lnSpc>
              <a:spcAft>
                <a:spcPts val="201"/>
              </a:spcAft>
              <a:buNone/>
            </a:pPr>
            <a:r>
              <a:rPr b="0" lang="en-US" sz="1000" spc="-1" strike="noStrike">
                <a:solidFill>
                  <a:srgbClr val="1e1e1e"/>
                </a:solidFill>
                <a:latin typeface="Calibri"/>
              </a:rPr>
              <a:t>3.  Worker runs Query Understanding: typo fix, intent detection</a:t>
            </a:r>
            <a:endParaRPr b="0" lang="en-IN" sz="1000" spc="-1" strike="noStrike">
              <a:latin typeface="Arial"/>
            </a:endParaRPr>
          </a:p>
          <a:p>
            <a:pPr>
              <a:lnSpc>
                <a:spcPct val="100000"/>
              </a:lnSpc>
              <a:spcAft>
                <a:spcPts val="201"/>
              </a:spcAft>
              <a:buNone/>
            </a:pPr>
            <a:r>
              <a:rPr b="0" lang="en-US" sz="1000" spc="-1" strike="noStrike">
                <a:solidFill>
                  <a:srgbClr val="1e1e1e"/>
                </a:solidFill>
                <a:latin typeface="Calibri"/>
              </a:rPr>
              <a:t>4.  Enriched query searches ChromaDB for matching legal entries</a:t>
            </a:r>
            <a:endParaRPr b="0" lang="en-IN" sz="1000" spc="-1" strike="noStrike">
              <a:latin typeface="Arial"/>
            </a:endParaRPr>
          </a:p>
          <a:p>
            <a:pPr>
              <a:lnSpc>
                <a:spcPct val="100000"/>
              </a:lnSpc>
              <a:spcAft>
                <a:spcPts val="201"/>
              </a:spcAft>
              <a:buNone/>
            </a:pPr>
            <a:r>
              <a:rPr b="0" lang="en-US" sz="1000" spc="-1" strike="noStrike">
                <a:solidFill>
                  <a:srgbClr val="1e1e1e"/>
                </a:solidFill>
                <a:latin typeface="Calibri"/>
              </a:rPr>
              <a:t>5.  High confidence  →  direct answer; else context sent to Ollama LLM</a:t>
            </a:r>
            <a:endParaRPr b="0" lang="en-IN" sz="1000" spc="-1" strike="noStrike">
              <a:latin typeface="Arial"/>
            </a:endParaRPr>
          </a:p>
          <a:p>
            <a:pPr>
              <a:lnSpc>
                <a:spcPct val="100000"/>
              </a:lnSpc>
              <a:spcAft>
                <a:spcPts val="201"/>
              </a:spcAft>
              <a:buNone/>
            </a:pPr>
            <a:r>
              <a:rPr b="0" lang="en-US" sz="1000" spc="-1" strike="noStrike">
                <a:solidFill>
                  <a:srgbClr val="1e1e1e"/>
                </a:solidFill>
                <a:latin typeface="Calibri"/>
              </a:rPr>
              <a:t>6.  LLM generates: LAW · SECTION · PUNISHMENT · NEXT STEPS · DISCLAIMER</a:t>
            </a:r>
            <a:endParaRPr b="0" lang="en-IN" sz="1000" spc="-1" strike="noStrike">
              <a:latin typeface="Arial"/>
            </a:endParaRPr>
          </a:p>
          <a:p>
            <a:pPr>
              <a:lnSpc>
                <a:spcPct val="100000"/>
              </a:lnSpc>
              <a:spcAft>
                <a:spcPts val="201"/>
              </a:spcAft>
              <a:buNone/>
            </a:pPr>
            <a:r>
              <a:rPr b="0" lang="en-US" sz="1000" spc="-1" strike="noStrike">
                <a:solidFill>
                  <a:srgbClr val="1e1e1e"/>
                </a:solidFill>
                <a:latin typeface="Calibri"/>
              </a:rPr>
              <a:t>7.  Response saved  →  frontend polls  →  answer shown to user</a:t>
            </a:r>
            <a:endParaRPr b="0" lang="en-IN" sz="10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40"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141"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42"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143"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144"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145"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46"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147"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48" name="TextBox 9"/>
          <p:cNvSpPr/>
          <p:nvPr/>
        </p:nvSpPr>
        <p:spPr>
          <a:xfrm>
            <a:off x="8484840" y="6519600"/>
            <a:ext cx="23904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8</a:t>
            </a:r>
            <a:endParaRPr b="0" lang="en-IN" sz="900" spc="-1" strike="noStrike">
              <a:latin typeface="Arial"/>
            </a:endParaRPr>
          </a:p>
        </p:txBody>
      </p:sp>
      <p:sp>
        <p:nvSpPr>
          <p:cNvPr id="149"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Modules Overview</a:t>
            </a:r>
            <a:endParaRPr b="0" lang="en-IN" sz="2600" spc="-1" strike="noStrike">
              <a:latin typeface="Arial"/>
            </a:endParaRPr>
          </a:p>
        </p:txBody>
      </p:sp>
      <p:sp>
        <p:nvSpPr>
          <p:cNvPr id="150" name="Rounded Rectangle 11"/>
          <p:cNvSpPr/>
          <p:nvPr/>
        </p:nvSpPr>
        <p:spPr>
          <a:xfrm>
            <a:off x="502920" y="1097280"/>
            <a:ext cx="8137800" cy="5211720"/>
          </a:xfrm>
          <a:prstGeom prst="roundRect">
            <a:avLst>
              <a:gd name="adj" fmla="val 16667"/>
            </a:avLst>
          </a:prstGeom>
          <a:solidFill>
            <a:srgbClr val="ffffff"/>
          </a:solidFill>
          <a:ln w="15120">
            <a:solidFill>
              <a:srgbClr val="c8c8c8"/>
            </a:solidFill>
            <a:round/>
          </a:ln>
          <a:effectLst>
            <a:outerShdw dist="23040" dir="5400000" blurRad="39960" rotWithShape="0">
              <a:srgbClr val="000000">
                <a:alpha val="35000"/>
              </a:srgbClr>
            </a:outerShdw>
          </a:effectLst>
        </p:spPr>
        <p:style>
          <a:lnRef idx="0"/>
          <a:fillRef idx="0"/>
          <a:effectRef idx="0"/>
          <a:fontRef idx="minor"/>
        </p:style>
      </p:sp>
      <p:sp>
        <p:nvSpPr>
          <p:cNvPr id="151" name="TextBox 12"/>
          <p:cNvSpPr/>
          <p:nvPr/>
        </p:nvSpPr>
        <p:spPr>
          <a:xfrm>
            <a:off x="640080" y="1234440"/>
            <a:ext cx="7863480" cy="24170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Frontend Module — React chat interface with quick-question buttons.</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API Module — Django REST endpoints for session and query management.</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Async Processing Module — Celery + Redis for background AI computation.</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Query Understanding Module — Typo fix, intent detection, phrase expansion.</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RAG Retrieval Module — ChromaDB vector search with keyword fallback.</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LLM Response Module — Ollama model with strict prompt for structured answers.</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Database Module — SQLite for chat history, ChromaDB for vector embeddings.</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Safety and Fallback Module — Default guidance and mandatory legal disclaimer.</a:t>
            </a:r>
            <a:endParaRPr b="0" lang="en-IN" sz="14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52"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153"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54"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155"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156"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157"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58"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159"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60" name="TextBox 9"/>
          <p:cNvSpPr/>
          <p:nvPr/>
        </p:nvSpPr>
        <p:spPr>
          <a:xfrm>
            <a:off x="8484840" y="6519600"/>
            <a:ext cx="23904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9</a:t>
            </a:r>
            <a:endParaRPr b="0" lang="en-IN" sz="900" spc="-1" strike="noStrike">
              <a:latin typeface="Arial"/>
            </a:endParaRPr>
          </a:p>
        </p:txBody>
      </p:sp>
      <p:sp>
        <p:nvSpPr>
          <p:cNvPr id="161"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APRM Module — Analyze Query</a:t>
            </a:r>
            <a:endParaRPr b="0" lang="en-IN" sz="2600" spc="-1" strike="noStrike">
              <a:latin typeface="Arial"/>
            </a:endParaRPr>
          </a:p>
        </p:txBody>
      </p:sp>
      <p:sp>
        <p:nvSpPr>
          <p:cNvPr id="162" name="Rounded Rectangle 11"/>
          <p:cNvSpPr/>
          <p:nvPr/>
        </p:nvSpPr>
        <p:spPr>
          <a:xfrm>
            <a:off x="502920" y="1051560"/>
            <a:ext cx="8137800" cy="383760"/>
          </a:xfrm>
          <a:prstGeom prst="roundRect">
            <a:avLst>
              <a:gd name="adj" fmla="val 16667"/>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163" name="TextBox 12"/>
          <p:cNvSpPr/>
          <p:nvPr/>
        </p:nvSpPr>
        <p:spPr>
          <a:xfrm>
            <a:off x="3117240" y="1078920"/>
            <a:ext cx="2909160" cy="317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500" spc="-1" strike="noStrike">
                <a:solidFill>
                  <a:srgbClr val="ffffff"/>
                </a:solidFill>
                <a:latin typeface="Calibri"/>
              </a:rPr>
              <a:t>A — Query Understanding Module</a:t>
            </a:r>
            <a:endParaRPr b="0" lang="en-IN" sz="1500" spc="-1" strike="noStrike">
              <a:latin typeface="Arial"/>
            </a:endParaRPr>
          </a:p>
        </p:txBody>
      </p:sp>
      <p:sp>
        <p:nvSpPr>
          <p:cNvPr id="164" name="Rounded Rectangle 13"/>
          <p:cNvSpPr/>
          <p:nvPr/>
        </p:nvSpPr>
        <p:spPr>
          <a:xfrm>
            <a:off x="502920" y="1508760"/>
            <a:ext cx="8137800" cy="4800240"/>
          </a:xfrm>
          <a:prstGeom prst="roundRect">
            <a:avLst>
              <a:gd name="adj" fmla="val 16667"/>
            </a:avLst>
          </a:prstGeom>
          <a:solidFill>
            <a:srgbClr val="ffffff"/>
          </a:solidFill>
          <a:ln w="15120">
            <a:solidFill>
              <a:srgbClr val="c8c8c8"/>
            </a:solidFill>
            <a:round/>
          </a:ln>
          <a:effectLst>
            <a:outerShdw dist="23040" dir="5400000" blurRad="39960" rotWithShape="0">
              <a:srgbClr val="000000">
                <a:alpha val="35000"/>
              </a:srgbClr>
            </a:outerShdw>
          </a:effectLst>
        </p:spPr>
        <p:style>
          <a:lnRef idx="0"/>
          <a:fillRef idx="0"/>
          <a:effectRef idx="0"/>
          <a:fontRef idx="minor"/>
        </p:style>
      </p:sp>
      <p:sp>
        <p:nvSpPr>
          <p:cNvPr id="165" name="TextBox 14"/>
          <p:cNvSpPr/>
          <p:nvPr/>
        </p:nvSpPr>
        <p:spPr>
          <a:xfrm>
            <a:off x="640080" y="1824480"/>
            <a:ext cx="7863480" cy="2818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700"/>
              </a:spcAft>
              <a:buNone/>
            </a:pPr>
            <a:r>
              <a:rPr b="0" lang="en-US" sz="1200" spc="-1" strike="noStrike">
                <a:solidFill>
                  <a:srgbClr val="1e1e1e"/>
                </a:solidFill>
                <a:latin typeface="Calibri"/>
              </a:rPr>
              <a:t>This module is the first step of the APRM pipeline. It takes the raw text that the user typed in the chat box and cleans it so that the rest of the system can understand it properly. Users often type with spelling mistakes and informal language, so this step is very important.</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First, the input is converted to lowercase and extra spaces or special characters are removed. Then a typo correction dictionary with 80+ common misspellings fixes words like 'sallary' to 'salary' and 'harrasment' to 'harassment'. This makes the query much more accurate for searching.</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Next, a phrase alias system expands informal phrases into proper legal terms. For example, 'no road in my street' becomes 'civic road infrastructure street grievance' so that the search engine can find related law sections more easily.</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The module also detects the legal intent by checking the query tokens against 30+ intent categories like theft, murder, harassment, cyber fraud, dowry, and property dispute. It uses unigram, bigram, and trigram matching to catch multi-word legal phrases.</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Finally, entities like location (home, bus stop, school), time (today, yesterday, night), and objects (bike, phone, salary) are extracted. All this information is combined into an enriched query string that is sent to the next stage of the pipeline.</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66"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167"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68"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169"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170"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171"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72"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173"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74" name="TextBox 9"/>
          <p:cNvSpPr/>
          <p:nvPr/>
        </p:nvSpPr>
        <p:spPr>
          <a:xfrm>
            <a:off x="8456760" y="6519600"/>
            <a:ext cx="29556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10</a:t>
            </a:r>
            <a:endParaRPr b="0" lang="en-IN" sz="900" spc="-1" strike="noStrike">
              <a:latin typeface="Arial"/>
            </a:endParaRPr>
          </a:p>
        </p:txBody>
      </p:sp>
      <p:sp>
        <p:nvSpPr>
          <p:cNvPr id="175"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APRM Module — Process Request</a:t>
            </a:r>
            <a:endParaRPr b="0" lang="en-IN" sz="2600" spc="-1" strike="noStrike">
              <a:latin typeface="Arial"/>
            </a:endParaRPr>
          </a:p>
        </p:txBody>
      </p:sp>
      <p:sp>
        <p:nvSpPr>
          <p:cNvPr id="176" name="Rounded Rectangle 11"/>
          <p:cNvSpPr/>
          <p:nvPr/>
        </p:nvSpPr>
        <p:spPr>
          <a:xfrm>
            <a:off x="502920" y="1051560"/>
            <a:ext cx="8137800" cy="383760"/>
          </a:xfrm>
          <a:prstGeom prst="roundRect">
            <a:avLst>
              <a:gd name="adj" fmla="val 16667"/>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177" name="TextBox 12"/>
          <p:cNvSpPr/>
          <p:nvPr/>
        </p:nvSpPr>
        <p:spPr>
          <a:xfrm>
            <a:off x="2976120" y="1078920"/>
            <a:ext cx="3191040" cy="317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500" spc="-1" strike="noStrike">
                <a:solidFill>
                  <a:srgbClr val="ffffff"/>
                </a:solidFill>
                <a:latin typeface="Calibri"/>
              </a:rPr>
              <a:t>P — API and Async Processing Module</a:t>
            </a:r>
            <a:endParaRPr b="0" lang="en-IN" sz="1500" spc="-1" strike="noStrike">
              <a:latin typeface="Arial"/>
            </a:endParaRPr>
          </a:p>
        </p:txBody>
      </p:sp>
      <p:sp>
        <p:nvSpPr>
          <p:cNvPr id="178" name="Rounded Rectangle 13"/>
          <p:cNvSpPr/>
          <p:nvPr/>
        </p:nvSpPr>
        <p:spPr>
          <a:xfrm>
            <a:off x="502920" y="1508760"/>
            <a:ext cx="8137800" cy="4800240"/>
          </a:xfrm>
          <a:prstGeom prst="roundRect">
            <a:avLst>
              <a:gd name="adj" fmla="val 16667"/>
            </a:avLst>
          </a:prstGeom>
          <a:solidFill>
            <a:srgbClr val="ffffff"/>
          </a:solidFill>
          <a:ln w="15120">
            <a:solidFill>
              <a:srgbClr val="c8c8c8"/>
            </a:solidFill>
            <a:round/>
          </a:ln>
          <a:effectLst>
            <a:outerShdw dist="23040" dir="5400000" blurRad="39960" rotWithShape="0">
              <a:srgbClr val="000000">
                <a:alpha val="35000"/>
              </a:srgbClr>
            </a:outerShdw>
          </a:effectLst>
        </p:spPr>
        <p:style>
          <a:lnRef idx="0"/>
          <a:fillRef idx="0"/>
          <a:effectRef idx="0"/>
          <a:fontRef idx="minor"/>
        </p:style>
      </p:sp>
      <p:sp>
        <p:nvSpPr>
          <p:cNvPr id="179" name="TextBox 14"/>
          <p:cNvSpPr/>
          <p:nvPr/>
        </p:nvSpPr>
        <p:spPr>
          <a:xfrm>
            <a:off x="640080" y="1800000"/>
            <a:ext cx="7863480" cy="26355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700"/>
              </a:spcAft>
              <a:buNone/>
            </a:pPr>
            <a:r>
              <a:rPr b="0" lang="en-US" sz="1200" spc="-1" strike="noStrike">
                <a:solidFill>
                  <a:srgbClr val="1e1e1e"/>
                </a:solidFill>
                <a:latin typeface="Calibri"/>
              </a:rPr>
              <a:t>This module handles the communication between the frontend and the AI backend. When a user submits a query, the React frontend sends an HTTP POST request to the Django REST API with the session ID and the query text.</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The API first creates a ChatSession record if one does not already exist, then creates a new LegalQuery record with status set to 'pending'. This record stores the user question and will later hold the AI-generated response once processing is complete.</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Instead of processing the query immediately (which would block the user), the API dispatches the task to a Celery worker using Redis as the message broker. The API returns HTTP 202 (Accepted) right away so the user sees a loading indicator while the work happens in the background.</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The Celery worker picks up the task and runs the full pipeline: query understanding, retrieval from ChromaDB, and LLM response generation. Once done, it saves the final answer to the database and marks the status as 'completed'.</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Meanwhile, the React frontend polls the backend every 2 seconds to check if the response is ready. As soon as the status changes to 'completed', the answer is displayed to the user. This async design keeps the UI fast and responsive at all times.</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80"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181"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82"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183"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184"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185"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86"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187"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88" name="TextBox 9"/>
          <p:cNvSpPr/>
          <p:nvPr/>
        </p:nvSpPr>
        <p:spPr>
          <a:xfrm>
            <a:off x="8456760" y="6519600"/>
            <a:ext cx="29556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11</a:t>
            </a:r>
            <a:endParaRPr b="0" lang="en-IN" sz="900" spc="-1" strike="noStrike">
              <a:latin typeface="Arial"/>
            </a:endParaRPr>
          </a:p>
        </p:txBody>
      </p:sp>
      <p:sp>
        <p:nvSpPr>
          <p:cNvPr id="189"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APRM Module — Retrieve Context</a:t>
            </a:r>
            <a:endParaRPr b="0" lang="en-IN" sz="2600" spc="-1" strike="noStrike">
              <a:latin typeface="Arial"/>
            </a:endParaRPr>
          </a:p>
        </p:txBody>
      </p:sp>
      <p:sp>
        <p:nvSpPr>
          <p:cNvPr id="190" name="Rounded Rectangle 11"/>
          <p:cNvSpPr/>
          <p:nvPr/>
        </p:nvSpPr>
        <p:spPr>
          <a:xfrm>
            <a:off x="502920" y="1051560"/>
            <a:ext cx="8137800" cy="383760"/>
          </a:xfrm>
          <a:prstGeom prst="roundRect">
            <a:avLst>
              <a:gd name="adj" fmla="val 16667"/>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191" name="TextBox 12"/>
          <p:cNvSpPr/>
          <p:nvPr/>
        </p:nvSpPr>
        <p:spPr>
          <a:xfrm>
            <a:off x="3426480" y="1078920"/>
            <a:ext cx="2290320" cy="317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500" spc="-1" strike="noStrike">
                <a:solidFill>
                  <a:srgbClr val="ffffff"/>
                </a:solidFill>
                <a:latin typeface="Calibri"/>
              </a:rPr>
              <a:t>R — RAG Retrieval Module</a:t>
            </a:r>
            <a:endParaRPr b="0" lang="en-IN" sz="1500" spc="-1" strike="noStrike">
              <a:latin typeface="Arial"/>
            </a:endParaRPr>
          </a:p>
        </p:txBody>
      </p:sp>
      <p:sp>
        <p:nvSpPr>
          <p:cNvPr id="192" name="Rounded Rectangle 13"/>
          <p:cNvSpPr/>
          <p:nvPr/>
        </p:nvSpPr>
        <p:spPr>
          <a:xfrm>
            <a:off x="502920" y="1508760"/>
            <a:ext cx="8137800" cy="4800240"/>
          </a:xfrm>
          <a:prstGeom prst="roundRect">
            <a:avLst>
              <a:gd name="adj" fmla="val 16667"/>
            </a:avLst>
          </a:prstGeom>
          <a:solidFill>
            <a:srgbClr val="ffffff"/>
          </a:solidFill>
          <a:ln w="15120">
            <a:solidFill>
              <a:srgbClr val="c8c8c8"/>
            </a:solidFill>
            <a:round/>
          </a:ln>
          <a:effectLst>
            <a:outerShdw dist="23040" dir="5400000" blurRad="39960" rotWithShape="0">
              <a:srgbClr val="000000">
                <a:alpha val="35000"/>
              </a:srgbClr>
            </a:outerShdw>
          </a:effectLst>
        </p:spPr>
        <p:style>
          <a:lnRef idx="0"/>
          <a:fillRef idx="0"/>
          <a:effectRef idx="0"/>
          <a:fontRef idx="minor"/>
        </p:style>
      </p:sp>
      <p:sp>
        <p:nvSpPr>
          <p:cNvPr id="193" name="TextBox 14"/>
          <p:cNvSpPr/>
          <p:nvPr/>
        </p:nvSpPr>
        <p:spPr>
          <a:xfrm>
            <a:off x="640080" y="1838160"/>
            <a:ext cx="7863480" cy="31831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700"/>
              </a:spcAft>
              <a:buNone/>
            </a:pPr>
            <a:r>
              <a:rPr b="0" lang="en-US" sz="1200" spc="-1" strike="noStrike">
                <a:solidFill>
                  <a:srgbClr val="1e1e1e"/>
                </a:solidFill>
                <a:latin typeface="Calibri"/>
              </a:rPr>
              <a:t>This module searches the legal knowledge base to find the most relevant Indian law entry for the user's question. The knowledge base is built from legal_sections.csv which contains columns: law, section, punishment, next_steps, and keywords covering IPC, IT Act, BNSS, and more.</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The primary search method is vector similarity. All legal entries are embedded into ChromaDB using the Ollama nomic-embed-text model. When a query comes in, similarity_search() finds the top matching documents based on how close their meaning is to the user question.</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A secondary scoring method called find_best_legal_entry() checks every record using a formula that combines token overlap (70 percent weight) with fuzzy string similarity (30 percent weight) plus a bonus for exact section name matches. This catches cases that vector search might miss.</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The system also uses 40+ synonym groups to expand query words automatically. For example, if the user says 'stolen', the system also searches for 'theft, robbery, snatch, pickpocket, missing'. If Ollama embeddings are unavailable, a pure keyword-based fallback scorer takes over.</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If the best match score is 0.42 or above, the entry is returned directly as the final answer without needing the LLM at all. Otherwise, the top 3 matching documents are combined and sent as context to the Ollama LLM for generating the final response.</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94"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195"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196"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197"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198"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199"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00"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201"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02" name="TextBox 9"/>
          <p:cNvSpPr/>
          <p:nvPr/>
        </p:nvSpPr>
        <p:spPr>
          <a:xfrm>
            <a:off x="8456760" y="6519600"/>
            <a:ext cx="29556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12</a:t>
            </a:r>
            <a:endParaRPr b="0" lang="en-IN" sz="900" spc="-1" strike="noStrike">
              <a:latin typeface="Arial"/>
            </a:endParaRPr>
          </a:p>
        </p:txBody>
      </p:sp>
      <p:sp>
        <p:nvSpPr>
          <p:cNvPr id="203"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APRM Module — Model Response</a:t>
            </a:r>
            <a:endParaRPr b="0" lang="en-IN" sz="2600" spc="-1" strike="noStrike">
              <a:latin typeface="Arial"/>
            </a:endParaRPr>
          </a:p>
        </p:txBody>
      </p:sp>
      <p:sp>
        <p:nvSpPr>
          <p:cNvPr id="204" name="Rounded Rectangle 11"/>
          <p:cNvSpPr/>
          <p:nvPr/>
        </p:nvSpPr>
        <p:spPr>
          <a:xfrm>
            <a:off x="502920" y="1051560"/>
            <a:ext cx="8137800" cy="383760"/>
          </a:xfrm>
          <a:prstGeom prst="roundRect">
            <a:avLst>
              <a:gd name="adj" fmla="val 16667"/>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205" name="TextBox 12"/>
          <p:cNvSpPr/>
          <p:nvPr/>
        </p:nvSpPr>
        <p:spPr>
          <a:xfrm>
            <a:off x="2911320" y="1078920"/>
            <a:ext cx="3320640" cy="317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500" spc="-1" strike="noStrike">
                <a:solidFill>
                  <a:srgbClr val="ffffff"/>
                </a:solidFill>
                <a:latin typeface="Calibri"/>
              </a:rPr>
              <a:t>M — LLM Response Generation Module</a:t>
            </a:r>
            <a:endParaRPr b="0" lang="en-IN" sz="1500" spc="-1" strike="noStrike">
              <a:latin typeface="Arial"/>
            </a:endParaRPr>
          </a:p>
        </p:txBody>
      </p:sp>
      <p:sp>
        <p:nvSpPr>
          <p:cNvPr id="206" name="Rounded Rectangle 13"/>
          <p:cNvSpPr/>
          <p:nvPr/>
        </p:nvSpPr>
        <p:spPr>
          <a:xfrm>
            <a:off x="502920" y="1508760"/>
            <a:ext cx="8137800" cy="4800240"/>
          </a:xfrm>
          <a:prstGeom prst="roundRect">
            <a:avLst>
              <a:gd name="adj" fmla="val 16667"/>
            </a:avLst>
          </a:prstGeom>
          <a:solidFill>
            <a:srgbClr val="ffffff"/>
          </a:solidFill>
          <a:ln w="15120">
            <a:solidFill>
              <a:srgbClr val="c8c8c8"/>
            </a:solidFill>
            <a:round/>
          </a:ln>
          <a:effectLst>
            <a:outerShdw dist="23040" dir="5400000" blurRad="39960" rotWithShape="0">
              <a:srgbClr val="000000">
                <a:alpha val="35000"/>
              </a:srgbClr>
            </a:outerShdw>
          </a:effectLst>
        </p:spPr>
        <p:style>
          <a:lnRef idx="0"/>
          <a:fillRef idx="0"/>
          <a:effectRef idx="0"/>
          <a:fontRef idx="minor"/>
        </p:style>
      </p:sp>
      <p:sp>
        <p:nvSpPr>
          <p:cNvPr id="207" name="TextBox 14"/>
          <p:cNvSpPr/>
          <p:nvPr/>
        </p:nvSpPr>
        <p:spPr>
          <a:xfrm>
            <a:off x="640080" y="1859400"/>
            <a:ext cx="7863480" cy="30006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700"/>
              </a:spcAft>
              <a:buNone/>
            </a:pPr>
            <a:r>
              <a:rPr b="0" lang="en-US" sz="1200" spc="-1" strike="noStrike">
                <a:solidFill>
                  <a:srgbClr val="1e1e1e"/>
                </a:solidFill>
                <a:latin typeface="Calibri"/>
              </a:rPr>
              <a:t>This is the final stage of the APRM pipeline. It takes the user query along with the retrieved legal context and generates a clean, structured answer using the Ollama LLM (llama3.2:3b model running locally on the server).</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The build_prompt() function creates a carefully designed prompt that tells the LLM to act as an Indian Law Expert. It includes strict instructions to produce the output EXACTLY in the format: LAW, SECTION, PUNISHMENT, NEXT STEPS, and DISCLAIMER. This keeps every answer consistent.</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Before calling the LLM, a health check is done on the Ollama API to make sure it is running. The prompt is then sent to the /api/generate endpoint with stream set to False. If the LLM returns an empty response or the output does not contain the expected LAW: marker, the system automatically falls back to a pre-formatted answer.</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The fallback chain has three levels: first try format_response_from_entry() using the direct database match, then try format_response_from_context() using the retrieved context, and finally use get_default_guidance_response() which gives general legal direction to the user.</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For common simple questions like greetings, how to file FIR, or emergency helpline numbers, the Simple QA module answers instantly without calling the LLM at all. Every response always ends with a disclaimer advising the user to consult a qualified lawyer for final legal advice.</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08"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209"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10"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211"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212"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213"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14"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215"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16" name="TextBox 9"/>
          <p:cNvSpPr/>
          <p:nvPr/>
        </p:nvSpPr>
        <p:spPr>
          <a:xfrm>
            <a:off x="8456760" y="6519600"/>
            <a:ext cx="29556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13</a:t>
            </a:r>
            <a:endParaRPr b="0" lang="en-IN" sz="900" spc="-1" strike="noStrike">
              <a:latin typeface="Arial"/>
            </a:endParaRPr>
          </a:p>
        </p:txBody>
      </p:sp>
      <p:sp>
        <p:nvSpPr>
          <p:cNvPr id="217"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Core Module — Frontend</a:t>
            </a:r>
            <a:endParaRPr b="0" lang="en-IN" sz="2600" spc="-1" strike="noStrike">
              <a:latin typeface="Arial"/>
            </a:endParaRPr>
          </a:p>
        </p:txBody>
      </p:sp>
      <p:sp>
        <p:nvSpPr>
          <p:cNvPr id="218" name="Rounded Rectangle 11"/>
          <p:cNvSpPr/>
          <p:nvPr/>
        </p:nvSpPr>
        <p:spPr>
          <a:xfrm>
            <a:off x="502920" y="1051560"/>
            <a:ext cx="8137800" cy="383760"/>
          </a:xfrm>
          <a:prstGeom prst="roundRect">
            <a:avLst>
              <a:gd name="adj" fmla="val 16667"/>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219" name="TextBox 12"/>
          <p:cNvSpPr/>
          <p:nvPr/>
        </p:nvSpPr>
        <p:spPr>
          <a:xfrm>
            <a:off x="2455920" y="1078920"/>
            <a:ext cx="4231800" cy="317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500" spc="-1" strike="noStrike">
                <a:solidFill>
                  <a:srgbClr val="ffffff"/>
                </a:solidFill>
                <a:latin typeface="Calibri"/>
              </a:rPr>
              <a:t>Frontend Interaction Module (React + Tailwind CSS)</a:t>
            </a:r>
            <a:endParaRPr b="0" lang="en-IN" sz="1500" spc="-1" strike="noStrike">
              <a:latin typeface="Arial"/>
            </a:endParaRPr>
          </a:p>
        </p:txBody>
      </p:sp>
      <p:sp>
        <p:nvSpPr>
          <p:cNvPr id="220" name="Rounded Rectangle 13"/>
          <p:cNvSpPr/>
          <p:nvPr/>
        </p:nvSpPr>
        <p:spPr>
          <a:xfrm>
            <a:off x="502920" y="1508760"/>
            <a:ext cx="8137800" cy="4800240"/>
          </a:xfrm>
          <a:prstGeom prst="roundRect">
            <a:avLst>
              <a:gd name="adj" fmla="val 16667"/>
            </a:avLst>
          </a:prstGeom>
          <a:solidFill>
            <a:srgbClr val="ffffff"/>
          </a:solidFill>
          <a:ln w="15120">
            <a:solidFill>
              <a:srgbClr val="c8c8c8"/>
            </a:solidFill>
            <a:round/>
          </a:ln>
          <a:effectLst>
            <a:outerShdw dist="23040" dir="5400000" blurRad="39960" rotWithShape="0">
              <a:srgbClr val="000000">
                <a:alpha val="35000"/>
              </a:srgbClr>
            </a:outerShdw>
          </a:effectLst>
        </p:spPr>
        <p:style>
          <a:lnRef idx="0"/>
          <a:fillRef idx="0"/>
          <a:effectRef idx="0"/>
          <a:fontRef idx="minor"/>
        </p:style>
      </p:sp>
      <p:sp>
        <p:nvSpPr>
          <p:cNvPr id="221" name="TextBox 14"/>
          <p:cNvSpPr/>
          <p:nvPr/>
        </p:nvSpPr>
        <p:spPr>
          <a:xfrm>
            <a:off x="640080" y="1600200"/>
            <a:ext cx="7863480" cy="23641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700"/>
              </a:spcAft>
              <a:buNone/>
            </a:pPr>
            <a:r>
              <a:rPr b="0" lang="en-US" sz="1200" spc="-1" strike="noStrike">
                <a:solidFill>
                  <a:srgbClr val="1e1e1e"/>
                </a:solidFill>
                <a:latin typeface="Calibri"/>
              </a:rPr>
              <a:t>The frontend is built using React.js and styled with Tailwind CSS. It provides a clean, simple chat interface where users can type their legal question in a text input box and receive AI-generated legal guidance in a readable format.</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When the page loads, a new ChatSession is automatically created by sending a POST request to the backend API. Users can either type their own question or click on any of the 55+ quick-question chip buttons to ask common legal queries with a single click.</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After submitting a query, the UI shows a loading indicator while the backend processes the request. The frontend polls the backend every 2 seconds to check if the AI response is ready. Once completed, the answer is displayed in a clear preformatted text block.</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The response is shown in the fixed format: LAW, SECTION, PUNISHMENT, NEXT STEPS, and DISCLAIMER. Connection errors and backend-unavailable states are handled gracefully with user-visible error messages. The single-page design keeps the experience intuitive for all users.</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22"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223"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24"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225"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226"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227"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28"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229"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30" name="TextBox 9"/>
          <p:cNvSpPr/>
          <p:nvPr/>
        </p:nvSpPr>
        <p:spPr>
          <a:xfrm>
            <a:off x="8456760" y="6519600"/>
            <a:ext cx="29556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14</a:t>
            </a:r>
            <a:endParaRPr b="0" lang="en-IN" sz="900" spc="-1" strike="noStrike">
              <a:latin typeface="Arial"/>
            </a:endParaRPr>
          </a:p>
        </p:txBody>
      </p:sp>
      <p:sp>
        <p:nvSpPr>
          <p:cNvPr id="231"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Core Module — Database and Safety</a:t>
            </a:r>
            <a:endParaRPr b="0" lang="en-IN" sz="2600" spc="-1" strike="noStrike">
              <a:latin typeface="Arial"/>
            </a:endParaRPr>
          </a:p>
        </p:txBody>
      </p:sp>
      <p:sp>
        <p:nvSpPr>
          <p:cNvPr id="232" name="Rounded Rectangle 11"/>
          <p:cNvSpPr/>
          <p:nvPr/>
        </p:nvSpPr>
        <p:spPr>
          <a:xfrm>
            <a:off x="502920" y="1051560"/>
            <a:ext cx="8137800" cy="383760"/>
          </a:xfrm>
          <a:prstGeom prst="roundRect">
            <a:avLst>
              <a:gd name="adj" fmla="val 16667"/>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233" name="TextBox 12"/>
          <p:cNvSpPr/>
          <p:nvPr/>
        </p:nvSpPr>
        <p:spPr>
          <a:xfrm>
            <a:off x="2816280" y="1078920"/>
            <a:ext cx="3511080" cy="317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500" spc="-1" strike="noStrike">
                <a:solidFill>
                  <a:srgbClr val="ffffff"/>
                </a:solidFill>
                <a:latin typeface="Calibri"/>
              </a:rPr>
              <a:t>Database, Persistence, and Safety Fallback</a:t>
            </a:r>
            <a:endParaRPr b="0" lang="en-IN" sz="1500" spc="-1" strike="noStrike">
              <a:latin typeface="Arial"/>
            </a:endParaRPr>
          </a:p>
        </p:txBody>
      </p:sp>
      <p:sp>
        <p:nvSpPr>
          <p:cNvPr id="234" name="Rounded Rectangle 13"/>
          <p:cNvSpPr/>
          <p:nvPr/>
        </p:nvSpPr>
        <p:spPr>
          <a:xfrm>
            <a:off x="502920" y="1508760"/>
            <a:ext cx="8137800" cy="4800240"/>
          </a:xfrm>
          <a:prstGeom prst="roundRect">
            <a:avLst>
              <a:gd name="adj" fmla="val 16667"/>
            </a:avLst>
          </a:prstGeom>
          <a:solidFill>
            <a:srgbClr val="ffffff"/>
          </a:solidFill>
          <a:ln w="15120">
            <a:solidFill>
              <a:srgbClr val="c8c8c8"/>
            </a:solidFill>
            <a:round/>
          </a:ln>
          <a:effectLst>
            <a:outerShdw dist="23040" dir="5400000" blurRad="39960" rotWithShape="0">
              <a:srgbClr val="000000">
                <a:alpha val="35000"/>
              </a:srgbClr>
            </a:outerShdw>
          </a:effectLst>
        </p:spPr>
        <p:style>
          <a:lnRef idx="0"/>
          <a:fillRef idx="0"/>
          <a:effectRef idx="0"/>
          <a:fontRef idx="minor"/>
        </p:style>
      </p:sp>
      <p:sp>
        <p:nvSpPr>
          <p:cNvPr id="235" name="TextBox 14"/>
          <p:cNvSpPr/>
          <p:nvPr/>
        </p:nvSpPr>
        <p:spPr>
          <a:xfrm>
            <a:off x="640080" y="1600200"/>
            <a:ext cx="7863480" cy="2818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700"/>
              </a:spcAft>
              <a:buNone/>
            </a:pPr>
            <a:r>
              <a:rPr b="0" lang="en-US" sz="1200" spc="-1" strike="noStrike">
                <a:solidFill>
                  <a:srgbClr val="1e1e1e"/>
                </a:solidFill>
                <a:latin typeface="Calibri"/>
              </a:rPr>
              <a:t>The system uses two databases. SQLite stores chat sessions and legal query records (user question, AI response, status, timestamps). ChromaDB stores vector embeddings of all legal sections on disk so that similarity searches are fast and data persists across restarts.</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At startup, the legal_sections.csv file is loaded using Pandas. The columns are normalized, keywords are enriched using 50+ enrichment rule groups, and each entry is embedded into ChromaDB using the Ollama nomic-embed-text model. This builds the complete legal knowledge base.</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Each user conversation is grouped under a unique session ID, so the full question and answer history is maintained in order. This allows users to ask multiple questions in one session.</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The Safety Fallback module ensures that when retrieval confidence is low or no good match is found, the system returns general legal guidance instead of a wrong answer. A Simple QA module handles greetings and common FAQs (FIR filing, emergency numbers) without calling the full AI pipeline.</a:t>
            </a:r>
            <a:endParaRPr b="0" lang="en-IN" sz="1200" spc="-1" strike="noStrike">
              <a:latin typeface="Arial"/>
            </a:endParaRPr>
          </a:p>
          <a:p>
            <a:pPr>
              <a:lnSpc>
                <a:spcPct val="100000"/>
              </a:lnSpc>
              <a:spcAft>
                <a:spcPts val="700"/>
              </a:spcAft>
              <a:buNone/>
            </a:pPr>
            <a:r>
              <a:rPr b="0" lang="en-US" sz="1200" spc="-1" strike="noStrike">
                <a:solidFill>
                  <a:srgbClr val="1e1e1e"/>
                </a:solidFill>
                <a:latin typeface="Calibri"/>
              </a:rPr>
              <a:t>Most importantly, every single response from the system — whether from the LLM, direct match, simple QA, or fallback — always includes a mandatory disclaimer telling the user to consult a qualified lawyer for final legal decisions.</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36"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237"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38"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239"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240"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241"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42"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243"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44" name="TextBox 9"/>
          <p:cNvSpPr/>
          <p:nvPr/>
        </p:nvSpPr>
        <p:spPr>
          <a:xfrm>
            <a:off x="8456760" y="6519600"/>
            <a:ext cx="29556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15</a:t>
            </a:r>
            <a:endParaRPr b="0" lang="en-IN" sz="900" spc="-1" strike="noStrike">
              <a:latin typeface="Arial"/>
            </a:endParaRPr>
          </a:p>
        </p:txBody>
      </p:sp>
      <p:sp>
        <p:nvSpPr>
          <p:cNvPr id="245"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Technology Stack</a:t>
            </a:r>
            <a:endParaRPr b="0" lang="en-IN" sz="2600" spc="-1" strike="noStrike">
              <a:latin typeface="Arial"/>
            </a:endParaRPr>
          </a:p>
        </p:txBody>
      </p:sp>
      <p:sp>
        <p:nvSpPr>
          <p:cNvPr id="246" name="Rounded Rectangle 11"/>
          <p:cNvSpPr/>
          <p:nvPr/>
        </p:nvSpPr>
        <p:spPr>
          <a:xfrm>
            <a:off x="502920" y="1188720"/>
            <a:ext cx="1645560" cy="639720"/>
          </a:xfrm>
          <a:prstGeom prst="roundRect">
            <a:avLst>
              <a:gd name="adj" fmla="val 16667"/>
            </a:avLst>
          </a:prstGeom>
          <a:solidFill>
            <a:srgbClr val="5a5a5a"/>
          </a:solidFill>
          <a:ln w="9360">
            <a:noFill/>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300" spc="-1" strike="noStrike">
                <a:solidFill>
                  <a:srgbClr val="ffffff"/>
                </a:solidFill>
                <a:latin typeface="Calibri"/>
              </a:rPr>
              <a:t>Frontend</a:t>
            </a:r>
            <a:endParaRPr b="0" lang="en-IN" sz="1300" spc="-1" strike="noStrike">
              <a:latin typeface="Arial"/>
            </a:endParaRPr>
          </a:p>
        </p:txBody>
      </p:sp>
      <p:sp>
        <p:nvSpPr>
          <p:cNvPr id="247" name="Rounded Rectangle 12"/>
          <p:cNvSpPr/>
          <p:nvPr/>
        </p:nvSpPr>
        <p:spPr>
          <a:xfrm>
            <a:off x="2240280" y="1188720"/>
            <a:ext cx="6309000" cy="639720"/>
          </a:xfrm>
          <a:prstGeom prst="roundRect">
            <a:avLst>
              <a:gd name="adj" fmla="val 16667"/>
            </a:avLst>
          </a:prstGeom>
          <a:solidFill>
            <a:srgbClr val="ffffff"/>
          </a:solidFill>
          <a:ln w="12600">
            <a:solidFill>
              <a:srgbClr val="c8c8c8"/>
            </a:solidFill>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nSpc>
                <a:spcPct val="100000"/>
              </a:lnSpc>
              <a:buNone/>
            </a:pPr>
            <a:r>
              <a:rPr b="0" lang="en-US" sz="1300" spc="-1" strike="noStrike">
                <a:solidFill>
                  <a:srgbClr val="1e1e1e"/>
                </a:solidFill>
                <a:latin typeface="Calibri"/>
              </a:rPr>
              <a:t>React.js, Vite, Tailwind CSS, Axios</a:t>
            </a:r>
            <a:endParaRPr b="0" lang="en-IN" sz="1300" spc="-1" strike="noStrike">
              <a:latin typeface="Arial"/>
            </a:endParaRPr>
          </a:p>
        </p:txBody>
      </p:sp>
      <p:sp>
        <p:nvSpPr>
          <p:cNvPr id="248" name="Rounded Rectangle 13"/>
          <p:cNvSpPr/>
          <p:nvPr/>
        </p:nvSpPr>
        <p:spPr>
          <a:xfrm>
            <a:off x="502920" y="1901880"/>
            <a:ext cx="1645560" cy="639720"/>
          </a:xfrm>
          <a:prstGeom prst="roundRect">
            <a:avLst>
              <a:gd name="adj" fmla="val 16667"/>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300" spc="-1" strike="noStrike">
                <a:solidFill>
                  <a:srgbClr val="ffffff"/>
                </a:solidFill>
                <a:latin typeface="Calibri"/>
              </a:rPr>
              <a:t>Backend</a:t>
            </a:r>
            <a:endParaRPr b="0" lang="en-IN" sz="1300" spc="-1" strike="noStrike">
              <a:latin typeface="Arial"/>
            </a:endParaRPr>
          </a:p>
        </p:txBody>
      </p:sp>
      <p:sp>
        <p:nvSpPr>
          <p:cNvPr id="249" name="Rounded Rectangle 14"/>
          <p:cNvSpPr/>
          <p:nvPr/>
        </p:nvSpPr>
        <p:spPr>
          <a:xfrm>
            <a:off x="2240280" y="1901880"/>
            <a:ext cx="6309000" cy="639720"/>
          </a:xfrm>
          <a:prstGeom prst="roundRect">
            <a:avLst>
              <a:gd name="adj" fmla="val 16667"/>
            </a:avLst>
          </a:prstGeom>
          <a:solidFill>
            <a:srgbClr val="ffffff"/>
          </a:solidFill>
          <a:ln w="12600">
            <a:solidFill>
              <a:srgbClr val="c8c8c8"/>
            </a:solidFill>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nSpc>
                <a:spcPct val="100000"/>
              </a:lnSpc>
              <a:buNone/>
            </a:pPr>
            <a:r>
              <a:rPr b="0" lang="en-US" sz="1300" spc="-1" strike="noStrike">
                <a:solidFill>
                  <a:srgbClr val="1e1e1e"/>
                </a:solidFill>
                <a:latin typeface="Calibri"/>
              </a:rPr>
              <a:t>Django 5.1, Django REST Framework, Python 3.10</a:t>
            </a:r>
            <a:endParaRPr b="0" lang="en-IN" sz="1300" spc="-1" strike="noStrike">
              <a:latin typeface="Arial"/>
            </a:endParaRPr>
          </a:p>
        </p:txBody>
      </p:sp>
      <p:sp>
        <p:nvSpPr>
          <p:cNvPr id="250" name="Rounded Rectangle 15"/>
          <p:cNvSpPr/>
          <p:nvPr/>
        </p:nvSpPr>
        <p:spPr>
          <a:xfrm>
            <a:off x="502920" y="2615040"/>
            <a:ext cx="1645560" cy="639720"/>
          </a:xfrm>
          <a:prstGeom prst="roundRect">
            <a:avLst>
              <a:gd name="adj" fmla="val 16667"/>
            </a:avLst>
          </a:prstGeom>
          <a:solidFill>
            <a:srgbClr val="ff9800"/>
          </a:solidFill>
          <a:ln w="9360">
            <a:noFill/>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300" spc="-1" strike="noStrike">
                <a:solidFill>
                  <a:srgbClr val="ffffff"/>
                </a:solidFill>
                <a:latin typeface="Calibri"/>
              </a:rPr>
              <a:t>Async</a:t>
            </a:r>
            <a:endParaRPr b="0" lang="en-IN" sz="1300" spc="-1" strike="noStrike">
              <a:latin typeface="Arial"/>
            </a:endParaRPr>
          </a:p>
        </p:txBody>
      </p:sp>
      <p:sp>
        <p:nvSpPr>
          <p:cNvPr id="251" name="Rounded Rectangle 16"/>
          <p:cNvSpPr/>
          <p:nvPr/>
        </p:nvSpPr>
        <p:spPr>
          <a:xfrm>
            <a:off x="2240280" y="2615040"/>
            <a:ext cx="6309000" cy="639720"/>
          </a:xfrm>
          <a:prstGeom prst="roundRect">
            <a:avLst>
              <a:gd name="adj" fmla="val 16667"/>
            </a:avLst>
          </a:prstGeom>
          <a:solidFill>
            <a:srgbClr val="ffffff"/>
          </a:solidFill>
          <a:ln w="12600">
            <a:solidFill>
              <a:srgbClr val="c8c8c8"/>
            </a:solidFill>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nSpc>
                <a:spcPct val="100000"/>
              </a:lnSpc>
              <a:buNone/>
            </a:pPr>
            <a:r>
              <a:rPr b="0" lang="en-US" sz="1300" spc="-1" strike="noStrike">
                <a:solidFill>
                  <a:srgbClr val="1e1e1e"/>
                </a:solidFill>
                <a:latin typeface="Calibri"/>
              </a:rPr>
              <a:t>Celery (task queue), Redis (message broker)</a:t>
            </a:r>
            <a:endParaRPr b="0" lang="en-IN" sz="1300" spc="-1" strike="noStrike">
              <a:latin typeface="Arial"/>
            </a:endParaRPr>
          </a:p>
        </p:txBody>
      </p:sp>
      <p:sp>
        <p:nvSpPr>
          <p:cNvPr id="252" name="Rounded Rectangle 17"/>
          <p:cNvSpPr/>
          <p:nvPr/>
        </p:nvSpPr>
        <p:spPr>
          <a:xfrm>
            <a:off x="502920" y="3328560"/>
            <a:ext cx="1645560" cy="639720"/>
          </a:xfrm>
          <a:prstGeom prst="roundRect">
            <a:avLst>
              <a:gd name="adj" fmla="val 16667"/>
            </a:avLst>
          </a:prstGeom>
          <a:solidFill>
            <a:srgbClr val="9c88ff"/>
          </a:solidFill>
          <a:ln w="9360">
            <a:noFill/>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300" spc="-1" strike="noStrike">
                <a:solidFill>
                  <a:srgbClr val="ffffff"/>
                </a:solidFill>
                <a:latin typeface="Calibri"/>
              </a:rPr>
              <a:t>AI / RAG</a:t>
            </a:r>
            <a:endParaRPr b="0" lang="en-IN" sz="1300" spc="-1" strike="noStrike">
              <a:latin typeface="Arial"/>
            </a:endParaRPr>
          </a:p>
        </p:txBody>
      </p:sp>
      <p:sp>
        <p:nvSpPr>
          <p:cNvPr id="253" name="Rounded Rectangle 18"/>
          <p:cNvSpPr/>
          <p:nvPr/>
        </p:nvSpPr>
        <p:spPr>
          <a:xfrm>
            <a:off x="2240280" y="3328560"/>
            <a:ext cx="6309000" cy="639720"/>
          </a:xfrm>
          <a:prstGeom prst="roundRect">
            <a:avLst>
              <a:gd name="adj" fmla="val 16667"/>
            </a:avLst>
          </a:prstGeom>
          <a:solidFill>
            <a:srgbClr val="ffffff"/>
          </a:solidFill>
          <a:ln w="12600">
            <a:solidFill>
              <a:srgbClr val="c8c8c8"/>
            </a:solidFill>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nSpc>
                <a:spcPct val="100000"/>
              </a:lnSpc>
              <a:buNone/>
            </a:pPr>
            <a:r>
              <a:rPr b="0" lang="en-US" sz="1300" spc="-1" strike="noStrike">
                <a:solidFill>
                  <a:srgbClr val="1e1e1e"/>
                </a:solidFill>
                <a:latin typeface="Calibri"/>
              </a:rPr>
              <a:t>Ollama (llama3.2:3b), LangChain, ChromaDB</a:t>
            </a:r>
            <a:endParaRPr b="0" lang="en-IN" sz="1300" spc="-1" strike="noStrike">
              <a:latin typeface="Arial"/>
            </a:endParaRPr>
          </a:p>
        </p:txBody>
      </p:sp>
      <p:sp>
        <p:nvSpPr>
          <p:cNvPr id="254" name="Rounded Rectangle 19"/>
          <p:cNvSpPr/>
          <p:nvPr/>
        </p:nvSpPr>
        <p:spPr>
          <a:xfrm>
            <a:off x="502920" y="4041720"/>
            <a:ext cx="1645560" cy="639720"/>
          </a:xfrm>
          <a:prstGeom prst="roundRect">
            <a:avLst>
              <a:gd name="adj" fmla="val 16667"/>
            </a:avLst>
          </a:prstGeom>
          <a:solidFill>
            <a:srgbClr val="ff6b6b"/>
          </a:solidFill>
          <a:ln w="9360">
            <a:noFill/>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300" spc="-1" strike="noStrike">
                <a:solidFill>
                  <a:srgbClr val="ffffff"/>
                </a:solidFill>
                <a:latin typeface="Calibri"/>
              </a:rPr>
              <a:t>Database</a:t>
            </a:r>
            <a:endParaRPr b="0" lang="en-IN" sz="1300" spc="-1" strike="noStrike">
              <a:latin typeface="Arial"/>
            </a:endParaRPr>
          </a:p>
        </p:txBody>
      </p:sp>
      <p:sp>
        <p:nvSpPr>
          <p:cNvPr id="255" name="Rounded Rectangle 20"/>
          <p:cNvSpPr/>
          <p:nvPr/>
        </p:nvSpPr>
        <p:spPr>
          <a:xfrm>
            <a:off x="2240280" y="4041720"/>
            <a:ext cx="6309000" cy="639720"/>
          </a:xfrm>
          <a:prstGeom prst="roundRect">
            <a:avLst>
              <a:gd name="adj" fmla="val 16667"/>
            </a:avLst>
          </a:prstGeom>
          <a:solidFill>
            <a:srgbClr val="ffffff"/>
          </a:solidFill>
          <a:ln w="12600">
            <a:solidFill>
              <a:srgbClr val="c8c8c8"/>
            </a:solidFill>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nSpc>
                <a:spcPct val="100000"/>
              </a:lnSpc>
              <a:buNone/>
            </a:pPr>
            <a:r>
              <a:rPr b="0" lang="en-US" sz="1300" spc="-1" strike="noStrike">
                <a:solidFill>
                  <a:srgbClr val="1e1e1e"/>
                </a:solidFill>
                <a:latin typeface="Calibri"/>
              </a:rPr>
              <a:t>SQLite (relational), ChromaDB (vector storage)</a:t>
            </a:r>
            <a:endParaRPr b="0" lang="en-IN" sz="1300" spc="-1" strike="noStrike">
              <a:latin typeface="Arial"/>
            </a:endParaRPr>
          </a:p>
        </p:txBody>
      </p:sp>
      <p:sp>
        <p:nvSpPr>
          <p:cNvPr id="256" name="Rounded Rectangle 21"/>
          <p:cNvSpPr/>
          <p:nvPr/>
        </p:nvSpPr>
        <p:spPr>
          <a:xfrm>
            <a:off x="502920" y="4754880"/>
            <a:ext cx="1645560" cy="639720"/>
          </a:xfrm>
          <a:prstGeom prst="roundRect">
            <a:avLst>
              <a:gd name="adj" fmla="val 16667"/>
            </a:avLst>
          </a:prstGeom>
          <a:solidFill>
            <a:srgbClr val="64dcb4"/>
          </a:solidFill>
          <a:ln w="9360">
            <a:noFill/>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300" spc="-1" strike="noStrike">
                <a:solidFill>
                  <a:srgbClr val="ffffff"/>
                </a:solidFill>
                <a:latin typeface="Calibri"/>
              </a:rPr>
              <a:t>Data</a:t>
            </a:r>
            <a:endParaRPr b="0" lang="en-IN" sz="1300" spc="-1" strike="noStrike">
              <a:latin typeface="Arial"/>
            </a:endParaRPr>
          </a:p>
        </p:txBody>
      </p:sp>
      <p:sp>
        <p:nvSpPr>
          <p:cNvPr id="257" name="Rounded Rectangle 22"/>
          <p:cNvSpPr/>
          <p:nvPr/>
        </p:nvSpPr>
        <p:spPr>
          <a:xfrm>
            <a:off x="2240280" y="4754880"/>
            <a:ext cx="6309000" cy="639720"/>
          </a:xfrm>
          <a:prstGeom prst="roundRect">
            <a:avLst>
              <a:gd name="adj" fmla="val 16667"/>
            </a:avLst>
          </a:prstGeom>
          <a:solidFill>
            <a:srgbClr val="ffffff"/>
          </a:solidFill>
          <a:ln w="12600">
            <a:solidFill>
              <a:srgbClr val="c8c8c8"/>
            </a:solidFill>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nSpc>
                <a:spcPct val="100000"/>
              </a:lnSpc>
              <a:buNone/>
            </a:pPr>
            <a:r>
              <a:rPr b="0" lang="en-US" sz="1300" spc="-1" strike="noStrike">
                <a:solidFill>
                  <a:srgbClr val="1e1e1e"/>
                </a:solidFill>
                <a:latin typeface="Calibri"/>
              </a:rPr>
              <a:t>Pandas, difflib (fuzzy matching)</a:t>
            </a:r>
            <a:endParaRPr b="0" lang="en-IN" sz="1300" spc="-1" strike="noStrike">
              <a:latin typeface="Arial"/>
            </a:endParaRPr>
          </a:p>
        </p:txBody>
      </p:sp>
      <p:sp>
        <p:nvSpPr>
          <p:cNvPr id="258" name="Rounded Rectangle 23"/>
          <p:cNvSpPr/>
          <p:nvPr/>
        </p:nvSpPr>
        <p:spPr>
          <a:xfrm>
            <a:off x="502920" y="5468040"/>
            <a:ext cx="1645560" cy="639720"/>
          </a:xfrm>
          <a:prstGeom prst="roundRect">
            <a:avLst>
              <a:gd name="adj" fmla="val 16667"/>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1" lang="en-US" sz="1300" spc="-1" strike="noStrike">
                <a:solidFill>
                  <a:srgbClr val="ffffff"/>
                </a:solidFill>
                <a:latin typeface="Calibri"/>
              </a:rPr>
              <a:t>Deploy</a:t>
            </a:r>
            <a:endParaRPr b="0" lang="en-IN" sz="1300" spc="-1" strike="noStrike">
              <a:latin typeface="Arial"/>
            </a:endParaRPr>
          </a:p>
        </p:txBody>
      </p:sp>
      <p:sp>
        <p:nvSpPr>
          <p:cNvPr id="259" name="Rounded Rectangle 24"/>
          <p:cNvSpPr/>
          <p:nvPr/>
        </p:nvSpPr>
        <p:spPr>
          <a:xfrm>
            <a:off x="2240280" y="5468040"/>
            <a:ext cx="6309000" cy="639720"/>
          </a:xfrm>
          <a:prstGeom prst="roundRect">
            <a:avLst>
              <a:gd name="adj" fmla="val 16667"/>
            </a:avLst>
          </a:prstGeom>
          <a:solidFill>
            <a:srgbClr val="ffffff"/>
          </a:solidFill>
          <a:ln w="12600">
            <a:solidFill>
              <a:srgbClr val="c8c8c8"/>
            </a:solidFill>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nSpc>
                <a:spcPct val="100000"/>
              </a:lnSpc>
              <a:buNone/>
            </a:pPr>
            <a:r>
              <a:rPr b="0" lang="en-US" sz="1300" spc="-1" strike="noStrike">
                <a:solidFill>
                  <a:srgbClr val="1e1e1e"/>
                </a:solidFill>
                <a:latin typeface="Calibri"/>
              </a:rPr>
              <a:t>Docker and Docker Compose</a:t>
            </a:r>
            <a:endParaRPr b="0" lang="en-IN" sz="13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60"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261"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62"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263"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264"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265"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66"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267"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68" name="TextBox 9"/>
          <p:cNvSpPr/>
          <p:nvPr/>
        </p:nvSpPr>
        <p:spPr>
          <a:xfrm>
            <a:off x="8456760" y="6519600"/>
            <a:ext cx="29556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16</a:t>
            </a:r>
            <a:endParaRPr b="0" lang="en-IN" sz="900" spc="-1" strike="noStrike">
              <a:latin typeface="Arial"/>
            </a:endParaRPr>
          </a:p>
        </p:txBody>
      </p:sp>
      <p:sp>
        <p:nvSpPr>
          <p:cNvPr id="269"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Screenshot — Chat Interface</a:t>
            </a:r>
            <a:endParaRPr b="0" lang="en-IN" sz="2600" spc="-1" strike="noStrike">
              <a:latin typeface="Arial"/>
            </a:endParaRPr>
          </a:p>
        </p:txBody>
      </p:sp>
      <p:sp>
        <p:nvSpPr>
          <p:cNvPr id="270" name="Rounded Rectangle 11"/>
          <p:cNvSpPr/>
          <p:nvPr/>
        </p:nvSpPr>
        <p:spPr>
          <a:xfrm>
            <a:off x="914400" y="1371600"/>
            <a:ext cx="7314840" cy="3931560"/>
          </a:xfrm>
          <a:prstGeom prst="roundRect">
            <a:avLst>
              <a:gd name="adj" fmla="val 16667"/>
            </a:avLst>
          </a:prstGeom>
          <a:solidFill>
            <a:srgbClr val="f0f0f0"/>
          </a:solidFill>
          <a:ln w="25560">
            <a:solidFill>
              <a:srgbClr val="008080"/>
            </a:solidFill>
            <a:prstDash val="dash"/>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0" lang="en-US" sz="2200" spc="-1" strike="noStrike">
                <a:solidFill>
                  <a:srgbClr val="008080"/>
                </a:solidFill>
                <a:latin typeface="Calibri"/>
              </a:rPr>
              <a:t>[ Insert Screenshot Here ]</a:t>
            </a:r>
            <a:endParaRPr b="0" lang="en-IN" sz="2200" spc="-1" strike="noStrike">
              <a:latin typeface="Arial"/>
            </a:endParaRPr>
          </a:p>
        </p:txBody>
      </p:sp>
      <p:sp>
        <p:nvSpPr>
          <p:cNvPr id="271" name="TextBox 12"/>
          <p:cNvSpPr/>
          <p:nvPr/>
        </p:nvSpPr>
        <p:spPr>
          <a:xfrm>
            <a:off x="2813040" y="5486400"/>
            <a:ext cx="351720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505050"/>
                </a:solidFill>
                <a:latin typeface="Calibri"/>
              </a:rPr>
              <a:t>React chat UI with quick-question chips and text input</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72"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273"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74"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275"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276"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277"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78"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279"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80" name="TextBox 9"/>
          <p:cNvSpPr/>
          <p:nvPr/>
        </p:nvSpPr>
        <p:spPr>
          <a:xfrm>
            <a:off x="8456760" y="6519600"/>
            <a:ext cx="29556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17</a:t>
            </a:r>
            <a:endParaRPr b="0" lang="en-IN" sz="900" spc="-1" strike="noStrike">
              <a:latin typeface="Arial"/>
            </a:endParaRPr>
          </a:p>
        </p:txBody>
      </p:sp>
      <p:sp>
        <p:nvSpPr>
          <p:cNvPr id="281"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Screenshot — Query Pending</a:t>
            </a:r>
            <a:endParaRPr b="0" lang="en-IN" sz="2600" spc="-1" strike="noStrike">
              <a:latin typeface="Arial"/>
            </a:endParaRPr>
          </a:p>
        </p:txBody>
      </p:sp>
      <p:sp>
        <p:nvSpPr>
          <p:cNvPr id="282" name="Rounded Rectangle 11"/>
          <p:cNvSpPr/>
          <p:nvPr/>
        </p:nvSpPr>
        <p:spPr>
          <a:xfrm>
            <a:off x="914400" y="1371600"/>
            <a:ext cx="7314840" cy="3931560"/>
          </a:xfrm>
          <a:prstGeom prst="roundRect">
            <a:avLst>
              <a:gd name="adj" fmla="val 16667"/>
            </a:avLst>
          </a:prstGeom>
          <a:solidFill>
            <a:srgbClr val="f0f0f0"/>
          </a:solidFill>
          <a:ln w="25560">
            <a:solidFill>
              <a:srgbClr val="008080"/>
            </a:solidFill>
            <a:prstDash val="dash"/>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0" lang="en-US" sz="2200" spc="-1" strike="noStrike">
                <a:solidFill>
                  <a:srgbClr val="008080"/>
                </a:solidFill>
                <a:latin typeface="Calibri"/>
              </a:rPr>
              <a:t>[ Insert Screenshot Here ]</a:t>
            </a:r>
            <a:endParaRPr b="0" lang="en-IN" sz="2200" spc="-1" strike="noStrike">
              <a:latin typeface="Arial"/>
            </a:endParaRPr>
          </a:p>
        </p:txBody>
      </p:sp>
      <p:sp>
        <p:nvSpPr>
          <p:cNvPr id="283" name="TextBox 12"/>
          <p:cNvSpPr/>
          <p:nvPr/>
        </p:nvSpPr>
        <p:spPr>
          <a:xfrm>
            <a:off x="2351520" y="5486400"/>
            <a:ext cx="444060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505050"/>
                </a:solidFill>
                <a:latin typeface="Calibri"/>
              </a:rPr>
              <a:t>Loading state shown while Celery processes the query in background</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84"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285"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86"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287"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288"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289"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90"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291"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92" name="TextBox 9"/>
          <p:cNvSpPr/>
          <p:nvPr/>
        </p:nvSpPr>
        <p:spPr>
          <a:xfrm>
            <a:off x="8456760" y="6519600"/>
            <a:ext cx="29556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18</a:t>
            </a:r>
            <a:endParaRPr b="0" lang="en-IN" sz="900" spc="-1" strike="noStrike">
              <a:latin typeface="Arial"/>
            </a:endParaRPr>
          </a:p>
        </p:txBody>
      </p:sp>
      <p:sp>
        <p:nvSpPr>
          <p:cNvPr id="293"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Screenshot — AI Response</a:t>
            </a:r>
            <a:endParaRPr b="0" lang="en-IN" sz="2600" spc="-1" strike="noStrike">
              <a:latin typeface="Arial"/>
            </a:endParaRPr>
          </a:p>
        </p:txBody>
      </p:sp>
      <p:sp>
        <p:nvSpPr>
          <p:cNvPr id="294" name="Rounded Rectangle 11"/>
          <p:cNvSpPr/>
          <p:nvPr/>
        </p:nvSpPr>
        <p:spPr>
          <a:xfrm>
            <a:off x="914400" y="1371600"/>
            <a:ext cx="7314840" cy="3931560"/>
          </a:xfrm>
          <a:prstGeom prst="roundRect">
            <a:avLst>
              <a:gd name="adj" fmla="val 16667"/>
            </a:avLst>
          </a:prstGeom>
          <a:solidFill>
            <a:srgbClr val="f0f0f0"/>
          </a:solidFill>
          <a:ln w="25560">
            <a:solidFill>
              <a:srgbClr val="008080"/>
            </a:solidFill>
            <a:prstDash val="dash"/>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0" lang="en-US" sz="2200" spc="-1" strike="noStrike">
                <a:solidFill>
                  <a:srgbClr val="008080"/>
                </a:solidFill>
                <a:latin typeface="Calibri"/>
              </a:rPr>
              <a:t>[ Insert Screenshot Here ]</a:t>
            </a:r>
            <a:endParaRPr b="0" lang="en-IN" sz="2200" spc="-1" strike="noStrike">
              <a:latin typeface="Arial"/>
            </a:endParaRPr>
          </a:p>
        </p:txBody>
      </p:sp>
      <p:sp>
        <p:nvSpPr>
          <p:cNvPr id="295" name="TextBox 12"/>
          <p:cNvSpPr/>
          <p:nvPr/>
        </p:nvSpPr>
        <p:spPr>
          <a:xfrm>
            <a:off x="2062440" y="5486400"/>
            <a:ext cx="501840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505050"/>
                </a:solidFill>
                <a:latin typeface="Calibri"/>
              </a:rPr>
              <a:t>Structured LAW / SECTION / PUNISHMENT / NEXT STEPS / DISCLAIMER output</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96"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297"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298"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299"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300"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301"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302"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303"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304" name="TextBox 9"/>
          <p:cNvSpPr/>
          <p:nvPr/>
        </p:nvSpPr>
        <p:spPr>
          <a:xfrm>
            <a:off x="8456760" y="6519600"/>
            <a:ext cx="29556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19</a:t>
            </a:r>
            <a:endParaRPr b="0" lang="en-IN" sz="900" spc="-1" strike="noStrike">
              <a:latin typeface="Arial"/>
            </a:endParaRPr>
          </a:p>
        </p:txBody>
      </p:sp>
      <p:sp>
        <p:nvSpPr>
          <p:cNvPr id="305"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Screenshot — Quick Questions</a:t>
            </a:r>
            <a:endParaRPr b="0" lang="en-IN" sz="2600" spc="-1" strike="noStrike">
              <a:latin typeface="Arial"/>
            </a:endParaRPr>
          </a:p>
        </p:txBody>
      </p:sp>
      <p:sp>
        <p:nvSpPr>
          <p:cNvPr id="306" name="Rounded Rectangle 11"/>
          <p:cNvSpPr/>
          <p:nvPr/>
        </p:nvSpPr>
        <p:spPr>
          <a:xfrm>
            <a:off x="914400" y="1371600"/>
            <a:ext cx="7314840" cy="3931560"/>
          </a:xfrm>
          <a:prstGeom prst="roundRect">
            <a:avLst>
              <a:gd name="adj" fmla="val 16667"/>
            </a:avLst>
          </a:prstGeom>
          <a:solidFill>
            <a:srgbClr val="f0f0f0"/>
          </a:solidFill>
          <a:ln w="25560">
            <a:solidFill>
              <a:srgbClr val="008080"/>
            </a:solidFill>
            <a:prstDash val="dash"/>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0" lang="en-US" sz="2200" spc="-1" strike="noStrike">
                <a:solidFill>
                  <a:srgbClr val="008080"/>
                </a:solidFill>
                <a:latin typeface="Calibri"/>
              </a:rPr>
              <a:t>[ Insert Screenshot Here ]</a:t>
            </a:r>
            <a:endParaRPr b="0" lang="en-IN" sz="2200" spc="-1" strike="noStrike">
              <a:latin typeface="Arial"/>
            </a:endParaRPr>
          </a:p>
        </p:txBody>
      </p:sp>
      <p:sp>
        <p:nvSpPr>
          <p:cNvPr id="307" name="TextBox 12"/>
          <p:cNvSpPr/>
          <p:nvPr/>
        </p:nvSpPr>
        <p:spPr>
          <a:xfrm>
            <a:off x="2698920" y="5486400"/>
            <a:ext cx="374580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505050"/>
                </a:solidFill>
                <a:latin typeface="Calibri"/>
              </a:rPr>
              <a:t>One-click legal query chip buttons for 55+ common issues</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08"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309"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310"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311"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312"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313"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314"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315"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316" name="TextBox 9"/>
          <p:cNvSpPr/>
          <p:nvPr/>
        </p:nvSpPr>
        <p:spPr>
          <a:xfrm>
            <a:off x="8456760" y="6519600"/>
            <a:ext cx="29556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20</a:t>
            </a:r>
            <a:endParaRPr b="0" lang="en-IN" sz="900" spc="-1" strike="noStrike">
              <a:latin typeface="Arial"/>
            </a:endParaRPr>
          </a:p>
        </p:txBody>
      </p:sp>
      <p:sp>
        <p:nvSpPr>
          <p:cNvPr id="317"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Screenshot — Architecture Flow</a:t>
            </a:r>
            <a:endParaRPr b="0" lang="en-IN" sz="2600" spc="-1" strike="noStrike">
              <a:latin typeface="Arial"/>
            </a:endParaRPr>
          </a:p>
        </p:txBody>
      </p:sp>
      <p:sp>
        <p:nvSpPr>
          <p:cNvPr id="318" name="Rounded Rectangle 11"/>
          <p:cNvSpPr/>
          <p:nvPr/>
        </p:nvSpPr>
        <p:spPr>
          <a:xfrm>
            <a:off x="914400" y="1371600"/>
            <a:ext cx="7314840" cy="3931560"/>
          </a:xfrm>
          <a:prstGeom prst="roundRect">
            <a:avLst>
              <a:gd name="adj" fmla="val 16667"/>
            </a:avLst>
          </a:prstGeom>
          <a:solidFill>
            <a:srgbClr val="f0f0f0"/>
          </a:solidFill>
          <a:ln w="25560">
            <a:solidFill>
              <a:srgbClr val="008080"/>
            </a:solidFill>
            <a:prstDash val="dash"/>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0" lang="en-US" sz="2200" spc="-1" strike="noStrike">
                <a:solidFill>
                  <a:srgbClr val="008080"/>
                </a:solidFill>
                <a:latin typeface="Calibri"/>
              </a:rPr>
              <a:t>[ Insert Screenshot Here ]</a:t>
            </a:r>
            <a:endParaRPr b="0" lang="en-IN" sz="2200" spc="-1" strike="noStrike">
              <a:latin typeface="Arial"/>
            </a:endParaRPr>
          </a:p>
        </p:txBody>
      </p:sp>
      <p:sp>
        <p:nvSpPr>
          <p:cNvPr id="319" name="TextBox 12"/>
          <p:cNvSpPr/>
          <p:nvPr/>
        </p:nvSpPr>
        <p:spPr>
          <a:xfrm>
            <a:off x="2498400" y="5486400"/>
            <a:ext cx="414648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505050"/>
                </a:solidFill>
                <a:latin typeface="Calibri"/>
              </a:rPr>
              <a:t>Paste your system architecture diagram or flowchart image here</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20"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321"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322"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323"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324"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325"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326"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327"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328" name="TextBox 9"/>
          <p:cNvSpPr/>
          <p:nvPr/>
        </p:nvSpPr>
        <p:spPr>
          <a:xfrm>
            <a:off x="8456760" y="6519600"/>
            <a:ext cx="29556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21</a:t>
            </a:r>
            <a:endParaRPr b="0" lang="en-IN" sz="900" spc="-1" strike="noStrike">
              <a:latin typeface="Arial"/>
            </a:endParaRPr>
          </a:p>
        </p:txBody>
      </p:sp>
      <p:sp>
        <p:nvSpPr>
          <p:cNvPr id="329"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Screenshot — Terminal / Docker</a:t>
            </a:r>
            <a:endParaRPr b="0" lang="en-IN" sz="2600" spc="-1" strike="noStrike">
              <a:latin typeface="Arial"/>
            </a:endParaRPr>
          </a:p>
        </p:txBody>
      </p:sp>
      <p:sp>
        <p:nvSpPr>
          <p:cNvPr id="330" name="Rounded Rectangle 11"/>
          <p:cNvSpPr/>
          <p:nvPr/>
        </p:nvSpPr>
        <p:spPr>
          <a:xfrm>
            <a:off x="914400" y="1371600"/>
            <a:ext cx="7314840" cy="3931560"/>
          </a:xfrm>
          <a:prstGeom prst="roundRect">
            <a:avLst>
              <a:gd name="adj" fmla="val 16667"/>
            </a:avLst>
          </a:prstGeom>
          <a:solidFill>
            <a:srgbClr val="f0f0f0"/>
          </a:solidFill>
          <a:ln w="25560">
            <a:solidFill>
              <a:srgbClr val="008080"/>
            </a:solidFill>
            <a:prstDash val="dash"/>
            <a:round/>
          </a:ln>
          <a:effectLst>
            <a:outerShdw dist="23040" dir="5400000" blurRad="39960" rotWithShape="0">
              <a:srgbClr val="000000">
                <a:alpha val="35000"/>
              </a:srgbClr>
            </a:outerShdw>
          </a:effectLst>
        </p:spPr>
        <p:style>
          <a:lnRef idx="0"/>
          <a:fillRef idx="0"/>
          <a:effectRef idx="0"/>
          <a:fontRef idx="minor"/>
        </p:style>
        <p:txBody>
          <a:bodyPr lIns="90000" rIns="90000" tIns="45000" bIns="45000" anchor="ctr">
            <a:noAutofit/>
          </a:bodyPr>
          <a:p>
            <a:pPr algn="ctr">
              <a:lnSpc>
                <a:spcPct val="100000"/>
              </a:lnSpc>
              <a:buNone/>
            </a:pPr>
            <a:r>
              <a:rPr b="0" lang="en-US" sz="2200" spc="-1" strike="noStrike">
                <a:solidFill>
                  <a:srgbClr val="008080"/>
                </a:solidFill>
                <a:latin typeface="Calibri"/>
              </a:rPr>
              <a:t>[ Insert Screenshot Here ]</a:t>
            </a:r>
            <a:endParaRPr b="0" lang="en-IN" sz="2200" spc="-1" strike="noStrike">
              <a:latin typeface="Arial"/>
            </a:endParaRPr>
          </a:p>
        </p:txBody>
      </p:sp>
      <p:sp>
        <p:nvSpPr>
          <p:cNvPr id="331" name="TextBox 12"/>
          <p:cNvSpPr/>
          <p:nvPr/>
        </p:nvSpPr>
        <p:spPr>
          <a:xfrm>
            <a:off x="2052720" y="5486400"/>
            <a:ext cx="503820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505050"/>
                </a:solidFill>
                <a:latin typeface="Calibri"/>
              </a:rPr>
              <a:t>Docker Compose running all services: backend, frontend, Celery, Redis, Ollama</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32" name="Rectangle 1"/>
          <p:cNvSpPr/>
          <p:nvPr/>
        </p:nvSpPr>
        <p:spPr>
          <a:xfrm>
            <a:off x="0" y="0"/>
            <a:ext cx="9143640" cy="959760"/>
          </a:xfrm>
          <a:prstGeom prst="rect">
            <a:avLst/>
          </a:prstGeom>
          <a:solidFill>
            <a:srgbClr val="0f0f0f"/>
          </a:solidFill>
          <a:ln w="9360">
            <a:noFill/>
          </a:ln>
          <a:effectLst>
            <a:outerShdw dist="23040" dir="5400000" blurRad="39960" rotWithShape="0">
              <a:srgbClr val="000000">
                <a:alpha val="35000"/>
              </a:srgbClr>
            </a:outerShdw>
          </a:effectLst>
        </p:spPr>
        <p:style>
          <a:lnRef idx="0"/>
          <a:fillRef idx="0"/>
          <a:effectRef idx="0"/>
          <a:fontRef idx="minor"/>
        </p:style>
      </p:sp>
      <p:sp>
        <p:nvSpPr>
          <p:cNvPr id="333" name="Oval 2"/>
          <p:cNvSpPr/>
          <p:nvPr/>
        </p:nvSpPr>
        <p:spPr>
          <a:xfrm>
            <a:off x="320040" y="274320"/>
            <a:ext cx="365400" cy="36540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334" name="Rectangle 3"/>
          <p:cNvSpPr/>
          <p:nvPr/>
        </p:nvSpPr>
        <p:spPr>
          <a:xfrm>
            <a:off x="0" y="960120"/>
            <a:ext cx="54360" cy="5897520"/>
          </a:xfrm>
          <a:prstGeom prst="rect">
            <a:avLst/>
          </a:prstGeom>
          <a:solidFill>
            <a:srgbClr val="008080"/>
          </a:solidFill>
          <a:ln w="9360">
            <a:noFill/>
          </a:ln>
          <a:effectLst>
            <a:outerShdw dist="23040" dir="5400000" blurRad="39960" rotWithShape="0">
              <a:srgbClr val="000000">
                <a:alpha val="35000"/>
              </a:srgbClr>
            </a:outerShdw>
          </a:effectLst>
        </p:spPr>
        <p:style>
          <a:lnRef idx="0"/>
          <a:fillRef idx="0"/>
          <a:effectRef idx="0"/>
          <a:fontRef idx="minor"/>
        </p:style>
      </p:sp>
      <p:sp>
        <p:nvSpPr>
          <p:cNvPr id="335" name="Right Triangle 4"/>
          <p:cNvSpPr/>
          <p:nvPr/>
        </p:nvSpPr>
        <p:spPr>
          <a:xfrm>
            <a:off x="8046720" y="5669280"/>
            <a:ext cx="1096920" cy="822600"/>
          </a:xfrm>
          <a:prstGeom prst="rtTriangle">
            <a:avLst/>
          </a:prstGeom>
          <a:solidFill>
            <a:srgbClr val="00b4aa"/>
          </a:solidFill>
          <a:ln w="9360">
            <a:noFill/>
          </a:ln>
          <a:effectLst>
            <a:outerShdw dist="23040" dir="5400000" blurRad="39960" rotWithShape="0">
              <a:srgbClr val="000000">
                <a:alpha val="35000"/>
              </a:srgbClr>
            </a:outerShdw>
          </a:effectLst>
        </p:spPr>
        <p:style>
          <a:lnRef idx="0"/>
          <a:fillRef idx="0"/>
          <a:effectRef idx="0"/>
          <a:fontRef idx="minor"/>
        </p:style>
      </p:sp>
      <p:sp>
        <p:nvSpPr>
          <p:cNvPr id="336" name="Rectangle 5"/>
          <p:cNvSpPr/>
          <p:nvPr/>
        </p:nvSpPr>
        <p:spPr>
          <a:xfrm>
            <a:off x="0" y="6492240"/>
            <a:ext cx="9143640" cy="36540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337" name="Rectangle 6"/>
          <p:cNvSpPr/>
          <p:nvPr/>
        </p:nvSpPr>
        <p:spPr>
          <a:xfrm>
            <a:off x="0" y="6473880"/>
            <a:ext cx="9143640" cy="2700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338" name="TextBox 7"/>
          <p:cNvSpPr/>
          <p:nvPr/>
        </p:nvSpPr>
        <p:spPr>
          <a:xfrm>
            <a:off x="1822680" y="6501240"/>
            <a:ext cx="156636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800" spc="-1" strike="noStrike">
                <a:solidFill>
                  <a:srgbClr val="b4c3dc"/>
                </a:solidFill>
                <a:latin typeface="Calibri"/>
              </a:rPr>
              <a:t>Law Chatbot — AI Legal Guidance</a:t>
            </a:r>
            <a:endParaRPr b="0" lang="en-IN" sz="800" spc="-1" strike="noStrike">
              <a:latin typeface="Arial"/>
            </a:endParaRPr>
          </a:p>
        </p:txBody>
      </p:sp>
      <p:sp>
        <p:nvSpPr>
          <p:cNvPr id="339" name="Oval 8"/>
          <p:cNvSpPr/>
          <p:nvPr/>
        </p:nvSpPr>
        <p:spPr>
          <a:xfrm>
            <a:off x="8458200" y="6510600"/>
            <a:ext cx="292320" cy="292320"/>
          </a:xfrm>
          <a:prstGeom prst="ellipse">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340" name="TextBox 9"/>
          <p:cNvSpPr/>
          <p:nvPr/>
        </p:nvSpPr>
        <p:spPr>
          <a:xfrm>
            <a:off x="8456760" y="6519600"/>
            <a:ext cx="295560" cy="2268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900" spc="-1" strike="noStrike">
                <a:solidFill>
                  <a:srgbClr val="0a0a0a"/>
                </a:solidFill>
                <a:latin typeface="Calibri"/>
              </a:rPr>
              <a:t>22</a:t>
            </a:r>
            <a:endParaRPr b="0" lang="en-IN" sz="900" spc="-1" strike="noStrike">
              <a:latin typeface="Arial"/>
            </a:endParaRPr>
          </a:p>
        </p:txBody>
      </p:sp>
      <p:sp>
        <p:nvSpPr>
          <p:cNvPr id="341" name="TextBox 10"/>
          <p:cNvSpPr/>
          <p:nvPr/>
        </p:nvSpPr>
        <p:spPr>
          <a:xfrm>
            <a:off x="822960" y="228600"/>
            <a:ext cx="7772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600" spc="-1" strike="noStrike">
                <a:solidFill>
                  <a:srgbClr val="ffffff"/>
                </a:solidFill>
                <a:latin typeface="Calibri"/>
              </a:rPr>
              <a:t>Conclusion</a:t>
            </a:r>
            <a:endParaRPr b="0" lang="en-IN" sz="2600" spc="-1" strike="noStrike">
              <a:latin typeface="Arial"/>
            </a:endParaRPr>
          </a:p>
        </p:txBody>
      </p:sp>
      <p:sp>
        <p:nvSpPr>
          <p:cNvPr id="342" name="Rounded Rectangle 11"/>
          <p:cNvSpPr/>
          <p:nvPr/>
        </p:nvSpPr>
        <p:spPr>
          <a:xfrm>
            <a:off x="502920" y="1097280"/>
            <a:ext cx="8137800" cy="5211720"/>
          </a:xfrm>
          <a:prstGeom prst="roundRect">
            <a:avLst>
              <a:gd name="adj" fmla="val 16667"/>
            </a:avLst>
          </a:prstGeom>
          <a:solidFill>
            <a:srgbClr val="ffffff"/>
          </a:solidFill>
          <a:ln w="15120">
            <a:solidFill>
              <a:srgbClr val="c8c8c8"/>
            </a:solidFill>
            <a:round/>
          </a:ln>
          <a:effectLst>
            <a:outerShdw dist="23040" dir="5400000" blurRad="39960" rotWithShape="0">
              <a:srgbClr val="000000">
                <a:alpha val="35000"/>
              </a:srgbClr>
            </a:outerShdw>
          </a:effectLst>
        </p:spPr>
        <p:style>
          <a:lnRef idx="0"/>
          <a:fillRef idx="0"/>
          <a:effectRef idx="0"/>
          <a:fontRef idx="minor"/>
        </p:style>
      </p:sp>
      <p:sp>
        <p:nvSpPr>
          <p:cNvPr id="343" name="TextBox 12"/>
          <p:cNvSpPr/>
          <p:nvPr/>
        </p:nvSpPr>
        <p:spPr>
          <a:xfrm>
            <a:off x="640080" y="1234440"/>
            <a:ext cx="7863480" cy="2026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The Law Chatbot gives fast, first-level legal awareness to common users who lack legal knowledge.</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The APRM pipeline (Analyze → Process → Retrieve → Model) provides structured and reliable responses.</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Query understanding handles real-world challenges like typos, slang, and informal language.</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Multi-strategy retrieval (vector + keyword + fuzzy) improves accuracy over simple keyword search.</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Every response includes a safety disclaimer to encourage consulting a real lawyer.</a:t>
            </a:r>
            <a:endParaRPr b="0" lang="en-IN" sz="1400" spc="-1" strike="noStrike">
              <a:latin typeface="Arial"/>
            </a:endParaRPr>
          </a:p>
          <a:p>
            <a:pPr>
              <a:lnSpc>
                <a:spcPct val="100000"/>
              </a:lnSpc>
              <a:spcAft>
                <a:spcPts val="700"/>
              </a:spcAft>
              <a:buNone/>
            </a:pPr>
            <a:r>
              <a:rPr b="0" lang="en-US" sz="1400" spc="-1" strike="noStrike">
                <a:solidFill>
                  <a:srgbClr val="1e1e1e"/>
                </a:solidFill>
                <a:latin typeface="Calibri"/>
              </a:rPr>
              <a:t>▸  </a:t>
            </a:r>
            <a:r>
              <a:rPr b="0" lang="en-US" sz="1400" spc="-1" strike="noStrike">
                <a:solidFill>
                  <a:srgbClr val="1e1e1e"/>
                </a:solidFill>
                <a:latin typeface="Calibri"/>
              </a:rPr>
              <a:t>Future Scope: Multilingual support (Tamil, Hindi), voice input, mobile app, expanded legal data.</a:t>
            </a:r>
            <a:endParaRPr b="0" lang="en-IN" sz="14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44" name="Rectangle 1"/>
          <p:cNvSpPr/>
          <p:nvPr/>
        </p:nvSpPr>
        <p:spPr>
          <a:xfrm>
            <a:off x="0" y="0"/>
            <a:ext cx="9143640" cy="6857640"/>
          </a:xfrm>
          <a:prstGeom prst="rect">
            <a:avLst/>
          </a:prstGeom>
          <a:solidFill>
            <a:srgbClr val="0a0a0a"/>
          </a:solidFill>
          <a:ln w="9360">
            <a:noFill/>
          </a:ln>
          <a:effectLst>
            <a:outerShdw dist="23040" dir="5400000" blurRad="39960" rotWithShape="0">
              <a:srgbClr val="000000">
                <a:alpha val="35000"/>
              </a:srgbClr>
            </a:outerShdw>
          </a:effectLst>
        </p:spPr>
        <p:style>
          <a:lnRef idx="0"/>
          <a:fillRef idx="0"/>
          <a:effectRef idx="0"/>
          <a:fontRef idx="minor"/>
        </p:style>
      </p:sp>
      <p:sp>
        <p:nvSpPr>
          <p:cNvPr id="345" name="Rectangle 2"/>
          <p:cNvSpPr/>
          <p:nvPr/>
        </p:nvSpPr>
        <p:spPr>
          <a:xfrm>
            <a:off x="0" y="0"/>
            <a:ext cx="9143640" cy="9108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346" name="Oval 3"/>
          <p:cNvSpPr/>
          <p:nvPr/>
        </p:nvSpPr>
        <p:spPr>
          <a:xfrm>
            <a:off x="6400800" y="-914400"/>
            <a:ext cx="4114440" cy="4114440"/>
          </a:xfrm>
          <a:prstGeom prst="ellipse">
            <a:avLst/>
          </a:prstGeom>
          <a:solidFill>
            <a:srgbClr val="1e1e1e"/>
          </a:solidFill>
          <a:ln w="9360">
            <a:noFill/>
          </a:ln>
          <a:effectLst>
            <a:outerShdw dist="23040" dir="5400000" blurRad="39960" rotWithShape="0">
              <a:srgbClr val="000000">
                <a:alpha val="35000"/>
              </a:srgbClr>
            </a:outerShdw>
          </a:effectLst>
        </p:spPr>
        <p:style>
          <a:lnRef idx="0"/>
          <a:fillRef idx="0"/>
          <a:effectRef idx="0"/>
          <a:fontRef idx="minor"/>
        </p:style>
      </p:sp>
      <p:sp>
        <p:nvSpPr>
          <p:cNvPr id="347" name="Oval 4"/>
          <p:cNvSpPr/>
          <p:nvPr/>
        </p:nvSpPr>
        <p:spPr>
          <a:xfrm>
            <a:off x="-914400" y="5029200"/>
            <a:ext cx="3200040" cy="3200040"/>
          </a:xfrm>
          <a:prstGeom prst="ellipse">
            <a:avLst/>
          </a:prstGeom>
          <a:solidFill>
            <a:srgbClr val="1e1e1e"/>
          </a:solidFill>
          <a:ln w="9360">
            <a:noFill/>
          </a:ln>
          <a:effectLst>
            <a:outerShdw dist="23040" dir="5400000" blurRad="39960" rotWithShape="0">
              <a:srgbClr val="000000">
                <a:alpha val="35000"/>
              </a:srgbClr>
            </a:outerShdw>
          </a:effectLst>
        </p:spPr>
        <p:style>
          <a:lnRef idx="0"/>
          <a:fillRef idx="0"/>
          <a:effectRef idx="0"/>
          <a:fontRef idx="minor"/>
        </p:style>
      </p:sp>
      <p:sp>
        <p:nvSpPr>
          <p:cNvPr id="348" name="Rounded Rectangle 5"/>
          <p:cNvSpPr/>
          <p:nvPr/>
        </p:nvSpPr>
        <p:spPr>
          <a:xfrm>
            <a:off x="1828800" y="2011680"/>
            <a:ext cx="5486040" cy="1828440"/>
          </a:xfrm>
          <a:prstGeom prst="roundRect">
            <a:avLst>
              <a:gd name="adj" fmla="val 16667"/>
            </a:avLst>
          </a:prstGeom>
          <a:solidFill>
            <a:srgbClr val="1e1e1e"/>
          </a:solidFill>
          <a:ln w="25560">
            <a:solidFill>
              <a:srgbClr val="ffc107"/>
            </a:solidFill>
            <a:round/>
          </a:ln>
          <a:effectLst>
            <a:outerShdw dist="23040" dir="5400000" blurRad="39960" rotWithShape="0">
              <a:srgbClr val="000000">
                <a:alpha val="35000"/>
              </a:srgbClr>
            </a:outerShdw>
          </a:effectLst>
        </p:spPr>
        <p:style>
          <a:lnRef idx="0"/>
          <a:fillRef idx="0"/>
          <a:effectRef idx="0"/>
          <a:fontRef idx="minor"/>
        </p:style>
      </p:sp>
      <p:sp>
        <p:nvSpPr>
          <p:cNvPr id="349" name="TextBox 6"/>
          <p:cNvSpPr/>
          <p:nvPr/>
        </p:nvSpPr>
        <p:spPr>
          <a:xfrm>
            <a:off x="3229920" y="2194560"/>
            <a:ext cx="2683440" cy="7905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4600" spc="-1" strike="noStrike">
                <a:solidFill>
                  <a:srgbClr val="ffc107"/>
                </a:solidFill>
                <a:latin typeface="Calibri"/>
              </a:rPr>
              <a:t>Thank You</a:t>
            </a:r>
            <a:endParaRPr b="0" lang="en-IN" sz="4600" spc="-1" strike="noStrike">
              <a:latin typeface="Arial"/>
            </a:endParaRPr>
          </a:p>
        </p:txBody>
      </p:sp>
      <p:sp>
        <p:nvSpPr>
          <p:cNvPr id="350" name="TextBox 7"/>
          <p:cNvSpPr/>
          <p:nvPr/>
        </p:nvSpPr>
        <p:spPr>
          <a:xfrm>
            <a:off x="3278160" y="3108960"/>
            <a:ext cx="2587320" cy="3945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2000" spc="-1" strike="noStrike">
                <a:solidFill>
                  <a:srgbClr val="ffffff"/>
                </a:solidFill>
                <a:latin typeface="Calibri"/>
              </a:rPr>
              <a:t>Questions &amp; Discussion</a:t>
            </a:r>
            <a:endParaRPr b="0" lang="en-IN" sz="2000" spc="-1" strike="noStrike">
              <a:latin typeface="Arial"/>
            </a:endParaRPr>
          </a:p>
        </p:txBody>
      </p:sp>
      <p:sp>
        <p:nvSpPr>
          <p:cNvPr id="351" name="Rectangle 8"/>
          <p:cNvSpPr/>
          <p:nvPr/>
        </p:nvSpPr>
        <p:spPr>
          <a:xfrm>
            <a:off x="3200400" y="4206240"/>
            <a:ext cx="2742840" cy="4536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
        <p:nvSpPr>
          <p:cNvPr id="352" name="TextBox 9"/>
          <p:cNvSpPr/>
          <p:nvPr/>
        </p:nvSpPr>
        <p:spPr>
          <a:xfrm>
            <a:off x="2511360" y="4572000"/>
            <a:ext cx="4120560" cy="3027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400" spc="-1" strike="noStrike">
                <a:solidFill>
                  <a:srgbClr val="b4c8e6"/>
                </a:solidFill>
                <a:latin typeface="Calibri"/>
              </a:rPr>
              <a:t>Law Chatbot — AI Based Indian Legal Guidance System</a:t>
            </a:r>
            <a:endParaRPr b="0" lang="en-IN" sz="1400" spc="-1" strike="noStrike">
              <a:latin typeface="Arial"/>
            </a:endParaRPr>
          </a:p>
        </p:txBody>
      </p:sp>
      <p:sp>
        <p:nvSpPr>
          <p:cNvPr id="353" name="Rectangle 10"/>
          <p:cNvSpPr/>
          <p:nvPr/>
        </p:nvSpPr>
        <p:spPr>
          <a:xfrm>
            <a:off x="0" y="6766560"/>
            <a:ext cx="9143640" cy="91080"/>
          </a:xfrm>
          <a:prstGeom prst="rect">
            <a:avLst/>
          </a:prstGeom>
          <a:solidFill>
            <a:srgbClr val="ffc107"/>
          </a:solidFill>
          <a:ln w="9360">
            <a:noFill/>
          </a:ln>
          <a:effectLst>
            <a:outerShdw dist="23040" dir="5400000" blurRad="39960" rotWithShape="0">
              <a:srgbClr val="000000">
                <a:alpha val="35000"/>
              </a:srgbClr>
            </a:outerShdw>
          </a:effectLst>
        </p:spPr>
        <p:style>
          <a:lnRef idx="0"/>
          <a:fillRef idx="0"/>
          <a:effectRef idx="0"/>
          <a:fontRef idx="minor"/>
        </p:style>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39</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
  <dcterms:modified xsi:type="dcterms:W3CDTF">2026-03-11T15:05:52Z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